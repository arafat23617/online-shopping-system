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72" r:id="rId2"/>
    <p:sldId id="256" r:id="rId3"/>
    <p:sldId id="257" r:id="rId4"/>
    <p:sldId id="258" r:id="rId5"/>
    <p:sldId id="263" r:id="rId6"/>
    <p:sldId id="274" r:id="rId7"/>
    <p:sldId id="260" r:id="rId8"/>
    <p:sldId id="270" r:id="rId9"/>
    <p:sldId id="266" r:id="rId10"/>
    <p:sldId id="268" r:id="rId11"/>
    <p:sldId id="267" r:id="rId12"/>
    <p:sldId id="265" r:id="rId13"/>
    <p:sldId id="273" r:id="rId14"/>
  </p:sldIdLst>
  <p:sldSz cx="14630400" cy="8229600"/>
  <p:notesSz cx="8229600" cy="14630400"/>
  <p:embeddedFontLst>
    <p:embeddedFont>
      <p:font typeface="DM Sans" pitchFamily="2" charset="0"/>
      <p:regular r:id="rId16"/>
    </p:embeddedFont>
    <p:embeddedFont>
      <p:font typeface="Garet" panose="020B0604020202020204" charset="0"/>
      <p:regular r:id="rId17"/>
    </p:embeddedFont>
    <p:embeddedFont>
      <p:font typeface="Libre Baskerville" panose="02000000000000000000" pitchFamily="2"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36" d="100"/>
          <a:sy n="36" d="100"/>
        </p:scale>
        <p:origin x="1548"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9050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1.xml"/><Relationship Id="rId6" Type="http://schemas.openxmlformats.org/officeDocument/2006/relationships/image" Target="../media/image26.jpg"/><Relationship Id="rId5" Type="http://schemas.openxmlformats.org/officeDocument/2006/relationships/image" Target="../media/image11.svg"/><Relationship Id="rId4" Type="http://schemas.openxmlformats.org/officeDocument/2006/relationships/image" Target="../media/image10.sv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hyperlink" Target="https://github.com/arafat23617/Online-Shopping-System"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59876" y="2203128"/>
            <a:ext cx="10620215" cy="990015"/>
          </a:xfrm>
          <a:prstGeom prst="rect">
            <a:avLst/>
          </a:prstGeom>
        </p:spPr>
        <p:txBody>
          <a:bodyPr wrap="none">
            <a:spAutoFit/>
          </a:bodyPr>
          <a:lstStyle/>
          <a:p>
            <a:pPr algn="ctr">
              <a:lnSpc>
                <a:spcPts val="7000"/>
              </a:lnSpc>
            </a:pPr>
            <a:r>
              <a:rPr lang="en-US" sz="3200" b="1" dirty="0">
                <a:solidFill>
                  <a:srgbClr val="3F3D3E"/>
                </a:solidFill>
                <a:latin typeface="Libre Baskerville" panose="020B0604020202020204" charset="0"/>
                <a:ea typeface="Alexandria Bold"/>
                <a:cs typeface="Alexandria Bold"/>
                <a:sym typeface="Alexandria Bold"/>
              </a:rPr>
              <a:t>PRESENTATION : ONLINE SHOPPING SYSTEM</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6672" y="-1616324"/>
            <a:ext cx="5863771" cy="5863771"/>
          </a:xfrm>
          <a:prstGeom prst="rect">
            <a:avLst/>
          </a:prstGeom>
        </p:spPr>
      </p:pic>
      <p:sp>
        <p:nvSpPr>
          <p:cNvPr id="4" name="Rectangle 3"/>
          <p:cNvSpPr/>
          <p:nvPr/>
        </p:nvSpPr>
        <p:spPr>
          <a:xfrm>
            <a:off x="-944954" y="3975370"/>
            <a:ext cx="7315200" cy="4247317"/>
          </a:xfrm>
          <a:prstGeom prst="rect">
            <a:avLst/>
          </a:prstGeom>
        </p:spPr>
        <p:txBody>
          <a:bodyPr>
            <a:spAutoFit/>
          </a:bodyPr>
          <a:lstStyle/>
          <a:p>
            <a:pPr algn="ctr">
              <a:lnSpc>
                <a:spcPts val="3640"/>
              </a:lnSpc>
            </a:pPr>
            <a:r>
              <a:rPr lang="en-US" sz="2000" dirty="0">
                <a:latin typeface="Libre Baskerville" panose="020B0604020202020204" charset="0"/>
              </a:rPr>
              <a:t>ARIF HASAN</a:t>
            </a:r>
          </a:p>
          <a:p>
            <a:pPr algn="ctr">
              <a:lnSpc>
                <a:spcPts val="3640"/>
              </a:lnSpc>
            </a:pPr>
            <a:r>
              <a:rPr lang="en-US" sz="2000" dirty="0">
                <a:latin typeface="Libre Baskerville" panose="020B0604020202020204" charset="0"/>
              </a:rPr>
              <a:t>0242220005341044</a:t>
            </a:r>
            <a:endParaRPr lang="en-US" sz="2000" dirty="0">
              <a:latin typeface="Libre Baskerville" panose="020B0604020202020204" charset="0"/>
              <a:ea typeface="Garet"/>
              <a:cs typeface="Garet"/>
              <a:sym typeface="Garet"/>
            </a:endParaRPr>
          </a:p>
          <a:p>
            <a:pPr algn="ctr">
              <a:lnSpc>
                <a:spcPts val="3640"/>
              </a:lnSpc>
            </a:pPr>
            <a:endParaRPr lang="en-US" sz="2000" dirty="0">
              <a:latin typeface="Libre Baskerville" panose="020B0604020202020204" charset="0"/>
              <a:ea typeface="Garet"/>
              <a:cs typeface="Garet"/>
              <a:sym typeface="Garet"/>
            </a:endParaRPr>
          </a:p>
          <a:p>
            <a:pPr algn="ctr">
              <a:lnSpc>
                <a:spcPts val="3640"/>
              </a:lnSpc>
            </a:pPr>
            <a:r>
              <a:rPr lang="en-US" sz="2000" dirty="0">
                <a:latin typeface="Libre Baskerville" panose="020B0604020202020204" charset="0"/>
              </a:rPr>
              <a:t>YEASIR ARAFAT</a:t>
            </a:r>
          </a:p>
          <a:p>
            <a:pPr algn="ctr">
              <a:lnSpc>
                <a:spcPts val="3640"/>
              </a:lnSpc>
            </a:pPr>
            <a:r>
              <a:rPr lang="en-US" sz="2000" dirty="0">
                <a:latin typeface="Libre Baskerville" panose="020B0604020202020204" charset="0"/>
              </a:rPr>
              <a:t>242310005341034</a:t>
            </a:r>
            <a:endParaRPr lang="en-US" sz="2000" dirty="0">
              <a:latin typeface="Libre Baskerville" panose="020B0604020202020204" charset="0"/>
              <a:ea typeface="Garet"/>
              <a:cs typeface="Garet"/>
              <a:sym typeface="Garet"/>
            </a:endParaRPr>
          </a:p>
          <a:p>
            <a:pPr algn="ctr">
              <a:lnSpc>
                <a:spcPts val="3640"/>
              </a:lnSpc>
            </a:pPr>
            <a:endParaRPr lang="en-US" sz="2000" dirty="0">
              <a:latin typeface="Libre Baskerville" panose="020B0604020202020204" charset="0"/>
              <a:ea typeface="Garet"/>
              <a:cs typeface="Garet"/>
              <a:sym typeface="Garet"/>
            </a:endParaRPr>
          </a:p>
          <a:p>
            <a:pPr algn="ctr">
              <a:lnSpc>
                <a:spcPts val="3640"/>
              </a:lnSpc>
            </a:pPr>
            <a:r>
              <a:rPr lang="en-US" sz="2000" dirty="0">
                <a:latin typeface="Libre Baskerville" panose="020B0604020202020204" charset="0"/>
                <a:ea typeface="Garet"/>
                <a:cs typeface="Garet"/>
                <a:sym typeface="Garet"/>
              </a:rPr>
              <a:t>SAYEM ISLAM TAMIM</a:t>
            </a:r>
          </a:p>
          <a:p>
            <a:pPr algn="ctr">
              <a:lnSpc>
                <a:spcPts val="3640"/>
              </a:lnSpc>
            </a:pPr>
            <a:r>
              <a:rPr lang="en-US" sz="2000" dirty="0">
                <a:latin typeface="Libre Baskerville" panose="020B0604020202020204" charset="0"/>
                <a:ea typeface="Garet"/>
                <a:cs typeface="Garet"/>
                <a:sym typeface="Garet"/>
              </a:rPr>
              <a:t>222-35-1186</a:t>
            </a:r>
          </a:p>
          <a:p>
            <a:pPr algn="ctr">
              <a:lnSpc>
                <a:spcPts val="3640"/>
              </a:lnSpc>
            </a:pPr>
            <a:endParaRPr lang="en-US" dirty="0">
              <a:solidFill>
                <a:srgbClr val="545454"/>
              </a:solidFill>
              <a:latin typeface="Garet"/>
              <a:ea typeface="Garet"/>
              <a:cs typeface="Garet"/>
              <a:sym typeface="Garet"/>
            </a:endParaRPr>
          </a:p>
        </p:txBody>
      </p:sp>
      <p:sp>
        <p:nvSpPr>
          <p:cNvPr id="5" name="Text 19"/>
          <p:cNvSpPr/>
          <p:nvPr/>
        </p:nvSpPr>
        <p:spPr>
          <a:xfrm>
            <a:off x="6426481" y="348915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Team Roles</a:t>
            </a:r>
            <a:endParaRPr lang="en-US" sz="2200" dirty="0"/>
          </a:p>
        </p:txBody>
      </p:sp>
      <p:sp>
        <p:nvSpPr>
          <p:cNvPr id="8" name="Text 22"/>
          <p:cNvSpPr/>
          <p:nvPr/>
        </p:nvSpPr>
        <p:spPr>
          <a:xfrm>
            <a:off x="4834290" y="5554958"/>
            <a:ext cx="6019618" cy="848904"/>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Frontend UI &amp; product pages — solved responsive design with CSS media queries</a:t>
            </a:r>
            <a:endParaRPr lang="en-US" sz="1750" dirty="0"/>
          </a:p>
        </p:txBody>
      </p:sp>
      <p:sp>
        <p:nvSpPr>
          <p:cNvPr id="11" name="Text 25"/>
          <p:cNvSpPr/>
          <p:nvPr/>
        </p:nvSpPr>
        <p:spPr>
          <a:xfrm>
            <a:off x="4840367" y="4051073"/>
            <a:ext cx="5518308" cy="1088708"/>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Backend logic &amp; database — debugged SQL query errors</a:t>
            </a:r>
            <a:endParaRPr lang="en-US" sz="1750" dirty="0"/>
          </a:p>
        </p:txBody>
      </p:sp>
      <p:sp>
        <p:nvSpPr>
          <p:cNvPr id="12" name="Shape 26"/>
          <p:cNvSpPr/>
          <p:nvPr/>
        </p:nvSpPr>
        <p:spPr>
          <a:xfrm>
            <a:off x="4624205" y="6826448"/>
            <a:ext cx="60960" cy="1092815"/>
          </a:xfrm>
          <a:prstGeom prst="rect">
            <a:avLst/>
          </a:prstGeom>
          <a:solidFill>
            <a:srgbClr val="B88E23"/>
          </a:solidFill>
          <a:ln/>
        </p:spPr>
      </p:sp>
      <p:sp>
        <p:nvSpPr>
          <p:cNvPr id="14" name="Text 28"/>
          <p:cNvSpPr/>
          <p:nvPr/>
        </p:nvSpPr>
        <p:spPr>
          <a:xfrm>
            <a:off x="4906685" y="7003840"/>
            <a:ext cx="5956935"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QA &amp; testing — fixed login validation, cart issues, and database queries</a:t>
            </a:r>
            <a:endParaRPr lang="en-US" sz="1750" dirty="0"/>
          </a:p>
        </p:txBody>
      </p:sp>
      <p:sp>
        <p:nvSpPr>
          <p:cNvPr id="15" name="Shape 26"/>
          <p:cNvSpPr/>
          <p:nvPr/>
        </p:nvSpPr>
        <p:spPr>
          <a:xfrm>
            <a:off x="4628513" y="5440546"/>
            <a:ext cx="60960" cy="1092815"/>
          </a:xfrm>
          <a:prstGeom prst="rect">
            <a:avLst/>
          </a:prstGeom>
          <a:solidFill>
            <a:srgbClr val="B88E23"/>
          </a:solidFill>
          <a:ln/>
        </p:spPr>
      </p:sp>
      <p:sp>
        <p:nvSpPr>
          <p:cNvPr id="16" name="Shape 26"/>
          <p:cNvSpPr/>
          <p:nvPr/>
        </p:nvSpPr>
        <p:spPr>
          <a:xfrm>
            <a:off x="4628849" y="3950866"/>
            <a:ext cx="60960" cy="1092815"/>
          </a:xfrm>
          <a:prstGeom prst="rect">
            <a:avLst/>
          </a:prstGeom>
          <a:solidFill>
            <a:srgbClr val="B88E23"/>
          </a:solidFill>
          <a:ln/>
        </p:spPr>
      </p:sp>
    </p:spTree>
    <p:extLst>
      <p:ext uri="{BB962C8B-B14F-4D97-AF65-F5344CB8AC3E}">
        <p14:creationId xmlns:p14="http://schemas.microsoft.com/office/powerpoint/2010/main" val="1118278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486400" cy="8229600"/>
          </a:xfrm>
          <a:prstGeom prst="rect">
            <a:avLst/>
          </a:prstGeom>
          <a:solidFill>
            <a:srgbClr val="F7EDD4"/>
          </a:solidFill>
          <a:ln/>
        </p:spPr>
      </p:sp>
      <p:pic>
        <p:nvPicPr>
          <p:cNvPr id="3" name="Image 0" descr="preencoded.png"/>
          <p:cNvPicPr>
            <a:picLocks noChangeAspect="1"/>
          </p:cNvPicPr>
          <p:nvPr/>
        </p:nvPicPr>
        <p:blipFill>
          <a:blip r:embed="rId3"/>
          <a:stretch>
            <a:fillRect/>
          </a:stretch>
        </p:blipFill>
        <p:spPr>
          <a:xfrm>
            <a:off x="113348" y="170021"/>
            <a:ext cx="5259705" cy="7889558"/>
          </a:xfrm>
          <a:prstGeom prst="rect">
            <a:avLst/>
          </a:prstGeom>
        </p:spPr>
      </p:pic>
      <p:sp>
        <p:nvSpPr>
          <p:cNvPr id="4" name="Text 1"/>
          <p:cNvSpPr/>
          <p:nvPr/>
        </p:nvSpPr>
        <p:spPr>
          <a:xfrm>
            <a:off x="6280190" y="2697599"/>
            <a:ext cx="7273171" cy="708779"/>
          </a:xfrm>
          <a:prstGeom prst="rect">
            <a:avLst/>
          </a:prstGeom>
          <a:noFill/>
          <a:ln/>
        </p:spPr>
        <p:txBody>
          <a:bodyPr wrap="none" lIns="0" tIns="0" rIns="0" bIns="0" rtlCol="0" anchor="t"/>
          <a:lstStyle/>
          <a:p>
            <a:pPr marL="0" indent="0" algn="l">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Online Shopping System</a:t>
            </a:r>
            <a:endParaRPr lang="en-US" sz="4450" dirty="0"/>
          </a:p>
        </p:txBody>
      </p:sp>
      <p:sp>
        <p:nvSpPr>
          <p:cNvPr id="5" name="Text 2"/>
          <p:cNvSpPr/>
          <p:nvPr/>
        </p:nvSpPr>
        <p:spPr>
          <a:xfrm>
            <a:off x="6280190" y="3746540"/>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A web-based platform designed to eliminate the inefficiencies of traditional shopping — enabling users to browse, compare, and order products from anywhere, anytime.</a:t>
            </a:r>
            <a:endParaRPr lang="en-US" sz="1750" dirty="0"/>
          </a:p>
        </p:txBody>
      </p:sp>
      <p:sp>
        <p:nvSpPr>
          <p:cNvPr id="6" name="Shape 3"/>
          <p:cNvSpPr/>
          <p:nvPr/>
        </p:nvSpPr>
        <p:spPr>
          <a:xfrm>
            <a:off x="6280190" y="5090398"/>
            <a:ext cx="1834634" cy="441484"/>
          </a:xfrm>
          <a:prstGeom prst="roundRect">
            <a:avLst>
              <a:gd name="adj" fmla="val 17263"/>
            </a:avLst>
          </a:prstGeom>
          <a:noFill/>
          <a:ln w="7620">
            <a:solidFill>
              <a:srgbClr val="B88E23"/>
            </a:solidFill>
            <a:prstDash val="solid"/>
          </a:ln>
        </p:spPr>
      </p:sp>
      <p:sp>
        <p:nvSpPr>
          <p:cNvPr id="7" name="Text 4"/>
          <p:cNvSpPr/>
          <p:nvPr/>
        </p:nvSpPr>
        <p:spPr>
          <a:xfrm>
            <a:off x="6423898" y="5166003"/>
            <a:ext cx="1547217" cy="290274"/>
          </a:xfrm>
          <a:prstGeom prst="rect">
            <a:avLst/>
          </a:prstGeom>
          <a:noFill/>
          <a:ln/>
        </p:spPr>
        <p:txBody>
          <a:bodyPr wrap="none" lIns="0" tIns="0" rIns="0" bIns="0" rtlCol="0" anchor="t"/>
          <a:lstStyle/>
          <a:p>
            <a:pPr marL="0" indent="0" algn="l">
              <a:lnSpc>
                <a:spcPts val="2250"/>
              </a:lnSpc>
              <a:buNone/>
            </a:pPr>
            <a:r>
              <a:rPr lang="en-US" sz="1400" dirty="0">
                <a:solidFill>
                  <a:srgbClr val="B88E23"/>
                </a:solidFill>
                <a:latin typeface="DM Sans" pitchFamily="34" charset="0"/>
                <a:ea typeface="DM Sans" pitchFamily="34" charset="-122"/>
                <a:cs typeface="DM Sans" pitchFamily="34" charset="-120"/>
              </a:rPr>
              <a:t>WEB APPLICATION</a:t>
            </a:r>
            <a:endParaRPr lang="en-US" sz="1400" dirty="0"/>
          </a:p>
        </p:txBody>
      </p:sp>
      <p:sp>
        <p:nvSpPr>
          <p:cNvPr id="8" name="Shape 5"/>
          <p:cNvSpPr/>
          <p:nvPr/>
        </p:nvSpPr>
        <p:spPr>
          <a:xfrm>
            <a:off x="8228171" y="5090398"/>
            <a:ext cx="2482096" cy="441484"/>
          </a:xfrm>
          <a:prstGeom prst="roundRect">
            <a:avLst>
              <a:gd name="adj" fmla="val 17263"/>
            </a:avLst>
          </a:prstGeom>
          <a:noFill/>
          <a:ln w="7620">
            <a:solidFill>
              <a:srgbClr val="B88E23"/>
            </a:solidFill>
            <a:prstDash val="solid"/>
          </a:ln>
        </p:spPr>
      </p:sp>
      <p:sp>
        <p:nvSpPr>
          <p:cNvPr id="9" name="Text 6"/>
          <p:cNvSpPr/>
          <p:nvPr/>
        </p:nvSpPr>
        <p:spPr>
          <a:xfrm>
            <a:off x="8371880" y="5166003"/>
            <a:ext cx="2194679" cy="290274"/>
          </a:xfrm>
          <a:prstGeom prst="rect">
            <a:avLst/>
          </a:prstGeom>
          <a:noFill/>
          <a:ln/>
        </p:spPr>
        <p:txBody>
          <a:bodyPr wrap="none" lIns="0" tIns="0" rIns="0" bIns="0" rtlCol="0" anchor="t"/>
          <a:lstStyle/>
          <a:p>
            <a:pPr marL="0" indent="0" algn="l">
              <a:lnSpc>
                <a:spcPts val="2250"/>
              </a:lnSpc>
              <a:buNone/>
            </a:pPr>
            <a:r>
              <a:rPr lang="en-US" sz="1400" dirty="0">
                <a:solidFill>
                  <a:srgbClr val="B88E23"/>
                </a:solidFill>
                <a:latin typeface="DM Sans" pitchFamily="34" charset="0"/>
                <a:ea typeface="DM Sans" pitchFamily="34" charset="-122"/>
                <a:cs typeface="DM Sans" pitchFamily="34" charset="-120"/>
              </a:rPr>
              <a:t>PHP · MYSQL · JAVASCRIPT</a:t>
            </a:r>
            <a:endParaRPr lang="en-US" sz="1400" dirty="0"/>
          </a:p>
        </p:txBody>
      </p:sp>
      <p:sp>
        <p:nvSpPr>
          <p:cNvPr id="11" name="TextBox 10"/>
          <p:cNvSpPr txBox="1"/>
          <p:nvPr/>
        </p:nvSpPr>
        <p:spPr>
          <a:xfrm>
            <a:off x="11766620" y="6712299"/>
            <a:ext cx="2170444" cy="693336"/>
          </a:xfrm>
          <a:prstGeom prst="rect">
            <a:avLst/>
          </a:prstGeom>
          <a:noFill/>
          <a:ln>
            <a:solidFill>
              <a:schemeClr val="bg1"/>
            </a:solidFill>
          </a:ln>
        </p:spPr>
        <p:txBody>
          <a:bodyPr wrap="square" rtlCol="0">
            <a:spAutoFit/>
          </a:bodyPr>
          <a:lstStyle/>
          <a:p>
            <a:endParaRPr lang="en-US" dirty="0"/>
          </a:p>
        </p:txBody>
      </p:sp>
      <p:sp>
        <p:nvSpPr>
          <p:cNvPr id="12" name="TextBox 11"/>
          <p:cNvSpPr txBox="1"/>
          <p:nvPr/>
        </p:nvSpPr>
        <p:spPr>
          <a:xfrm>
            <a:off x="12379569" y="7656844"/>
            <a:ext cx="2250831" cy="49317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32535"/>
            <a:ext cx="8473440" cy="708779"/>
          </a:xfrm>
          <a:prstGeom prst="rect">
            <a:avLst/>
          </a:prstGeom>
          <a:noFill/>
          <a:ln/>
        </p:spPr>
        <p:txBody>
          <a:bodyPr wrap="none" lIns="0" tIns="0" rIns="0" bIns="0" rtlCol="0" anchor="t"/>
          <a:lstStyle/>
          <a:p>
            <a:pPr marL="0" indent="0" algn="l">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The Problem &amp; Our Solution</a:t>
            </a:r>
            <a:endParaRPr lang="en-US" sz="4450" dirty="0"/>
          </a:p>
        </p:txBody>
      </p:sp>
      <p:pic>
        <p:nvPicPr>
          <p:cNvPr id="3" name="Image 0" descr="preencoded.png"/>
          <p:cNvPicPr>
            <a:picLocks noChangeAspect="1"/>
          </p:cNvPicPr>
          <p:nvPr/>
        </p:nvPicPr>
        <p:blipFill>
          <a:blip r:embed="rId3"/>
          <a:stretch>
            <a:fillRect/>
          </a:stretch>
        </p:blipFill>
        <p:spPr>
          <a:xfrm>
            <a:off x="793790" y="2536627"/>
            <a:ext cx="4205168" cy="4205168"/>
          </a:xfrm>
          <a:prstGeom prst="rect">
            <a:avLst/>
          </a:prstGeom>
        </p:spPr>
      </p:pic>
      <p:sp>
        <p:nvSpPr>
          <p:cNvPr id="4" name="Text 1"/>
          <p:cNvSpPr/>
          <p:nvPr/>
        </p:nvSpPr>
        <p:spPr>
          <a:xfrm>
            <a:off x="5559981" y="2919889"/>
            <a:ext cx="5175171" cy="354330"/>
          </a:xfrm>
          <a:prstGeom prst="rect">
            <a:avLst/>
          </a:prstGeom>
          <a:noFill/>
          <a:ln/>
        </p:spPr>
        <p:txBody>
          <a:bodyPr wrap="none" lIns="0" tIns="0" rIns="0" bIns="0" rtlCol="0" anchor="t"/>
          <a:lstStyle/>
          <a:p>
            <a:pPr marL="0" indent="0" algn="l">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Traditional Shopping Fails Because:</a:t>
            </a:r>
            <a:endParaRPr lang="en-US" sz="2200" dirty="0"/>
          </a:p>
        </p:txBody>
      </p:sp>
      <p:sp>
        <p:nvSpPr>
          <p:cNvPr id="5" name="Text 2"/>
          <p:cNvSpPr/>
          <p:nvPr/>
        </p:nvSpPr>
        <p:spPr>
          <a:xfrm>
            <a:off x="5559981" y="3501033"/>
            <a:ext cx="8284131"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54240"/>
                </a:solidFill>
                <a:latin typeface="DM Sans" pitchFamily="34" charset="0"/>
                <a:ea typeface="DM Sans" pitchFamily="34" charset="-122"/>
                <a:cs typeface="DM Sans" pitchFamily="34" charset="-120"/>
              </a:rPr>
              <a:t>Requires physical presence and manual billing</a:t>
            </a:r>
            <a:endParaRPr lang="en-US" sz="1750" dirty="0"/>
          </a:p>
          <a:p>
            <a:pPr marL="342900" indent="-342900" algn="l">
              <a:lnSpc>
                <a:spcPts val="2850"/>
              </a:lnSpc>
              <a:buSzPct val="100000"/>
              <a:buChar char="•"/>
            </a:pPr>
            <a:r>
              <a:rPr lang="en-US" sz="1750" dirty="0">
                <a:solidFill>
                  <a:srgbClr val="454240"/>
                </a:solidFill>
                <a:latin typeface="DM Sans" pitchFamily="34" charset="0"/>
                <a:ea typeface="DM Sans" pitchFamily="34" charset="-122"/>
                <a:cs typeface="DM Sans" pitchFamily="34" charset="-120"/>
              </a:rPr>
              <a:t>No real-time product comparison or order tracking</a:t>
            </a:r>
            <a:endParaRPr lang="en-US" sz="1750" dirty="0"/>
          </a:p>
          <a:p>
            <a:pPr marL="342900" indent="-342900" algn="l">
              <a:lnSpc>
                <a:spcPts val="2850"/>
              </a:lnSpc>
              <a:buSzPct val="100000"/>
              <a:buChar char="•"/>
            </a:pPr>
            <a:r>
              <a:rPr lang="en-US" sz="1750" dirty="0">
                <a:solidFill>
                  <a:srgbClr val="454240"/>
                </a:solidFill>
                <a:latin typeface="DM Sans" pitchFamily="34" charset="0"/>
                <a:ea typeface="DM Sans" pitchFamily="34" charset="-122"/>
                <a:cs typeface="DM Sans" pitchFamily="34" charset="-120"/>
              </a:rPr>
              <a:t>Limited availability and inconvenient hours</a:t>
            </a:r>
            <a:endParaRPr lang="en-US" sz="1750" dirty="0"/>
          </a:p>
        </p:txBody>
      </p:sp>
      <p:sp>
        <p:nvSpPr>
          <p:cNvPr id="6" name="Shape 3"/>
          <p:cNvSpPr/>
          <p:nvPr/>
        </p:nvSpPr>
        <p:spPr>
          <a:xfrm>
            <a:off x="5559981" y="5003483"/>
            <a:ext cx="8284131" cy="1326713"/>
          </a:xfrm>
          <a:prstGeom prst="roundRect">
            <a:avLst>
              <a:gd name="adj" fmla="val 7181"/>
            </a:avLst>
          </a:prstGeom>
          <a:solidFill>
            <a:srgbClr val="B6FCB8"/>
          </a:solidFill>
          <a:ln/>
        </p:spPr>
      </p:sp>
      <p:pic>
        <p:nvPicPr>
          <p:cNvPr id="7" name="Image 1" descr="preencoded.png"/>
          <p:cNvPicPr>
            <a:picLocks noChangeAspect="1"/>
          </p:cNvPicPr>
          <p:nvPr/>
        </p:nvPicPr>
        <p:blipFill>
          <a:blip r:embed="rId4"/>
          <a:stretch>
            <a:fillRect/>
          </a:stretch>
        </p:blipFill>
        <p:spPr>
          <a:xfrm>
            <a:off x="5786795" y="5347573"/>
            <a:ext cx="283488" cy="226814"/>
          </a:xfrm>
          <a:prstGeom prst="rect">
            <a:avLst/>
          </a:prstGeom>
        </p:spPr>
      </p:pic>
      <p:sp>
        <p:nvSpPr>
          <p:cNvPr id="8" name="Text 4"/>
          <p:cNvSpPr/>
          <p:nvPr/>
        </p:nvSpPr>
        <p:spPr>
          <a:xfrm>
            <a:off x="6297097" y="5286970"/>
            <a:ext cx="7320201"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DM Sans" pitchFamily="34" charset="0"/>
                <a:ea typeface="DM Sans" pitchFamily="34" charset="-122"/>
                <a:cs typeface="DM Sans" pitchFamily="34" charset="-120"/>
              </a:rPr>
              <a:t>Our platform lets users browse, cart, and order from any location — while admins manage everything from a central dashboard.</a:t>
            </a:r>
            <a:endParaRPr lang="en-US" sz="1750" dirty="0"/>
          </a:p>
        </p:txBody>
      </p:sp>
      <p:sp>
        <p:nvSpPr>
          <p:cNvPr id="9" name="TextBox 8"/>
          <p:cNvSpPr txBox="1"/>
          <p:nvPr/>
        </p:nvSpPr>
        <p:spPr>
          <a:xfrm>
            <a:off x="12379569" y="7656844"/>
            <a:ext cx="2250831" cy="49317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9144000" y="0"/>
            <a:ext cx="5486400" cy="8229600"/>
          </a:xfrm>
          <a:prstGeom prst="rect">
            <a:avLst/>
          </a:prstGeom>
          <a:solidFill>
            <a:srgbClr val="F7EDD4"/>
          </a:solidFill>
          <a:ln/>
        </p:spPr>
      </p:sp>
      <p:pic>
        <p:nvPicPr>
          <p:cNvPr id="3" name="Image 0" descr="preencoded.png"/>
          <p:cNvPicPr>
            <a:picLocks noChangeAspect="1"/>
          </p:cNvPicPr>
          <p:nvPr/>
        </p:nvPicPr>
        <p:blipFill>
          <a:blip r:embed="rId3"/>
          <a:stretch>
            <a:fillRect/>
          </a:stretch>
        </p:blipFill>
        <p:spPr>
          <a:xfrm>
            <a:off x="9227225" y="124778"/>
            <a:ext cx="5319951" cy="7979926"/>
          </a:xfrm>
          <a:prstGeom prst="rect">
            <a:avLst/>
          </a:prstGeom>
        </p:spPr>
      </p:pic>
      <p:sp>
        <p:nvSpPr>
          <p:cNvPr id="4" name="Text 1"/>
          <p:cNvSpPr/>
          <p:nvPr/>
        </p:nvSpPr>
        <p:spPr>
          <a:xfrm>
            <a:off x="582930" y="509230"/>
            <a:ext cx="4164330" cy="520541"/>
          </a:xfrm>
          <a:prstGeom prst="rect">
            <a:avLst/>
          </a:prstGeom>
          <a:noFill/>
          <a:ln/>
        </p:spPr>
        <p:txBody>
          <a:bodyPr wrap="none" lIns="0" tIns="0" rIns="0" bIns="0" rtlCol="0" anchor="t"/>
          <a:lstStyle/>
          <a:p>
            <a:pPr marL="0" indent="0" algn="l">
              <a:lnSpc>
                <a:spcPts val="4050"/>
              </a:lnSpc>
              <a:buNone/>
            </a:pPr>
            <a:r>
              <a:rPr lang="en-US" sz="3250" dirty="0">
                <a:solidFill>
                  <a:srgbClr val="5C4E3D"/>
                </a:solidFill>
                <a:latin typeface="Libre Baskerville" pitchFamily="34" charset="0"/>
                <a:ea typeface="Libre Baskerville" pitchFamily="34" charset="-122"/>
                <a:cs typeface="Libre Baskerville" pitchFamily="34" charset="-120"/>
              </a:rPr>
              <a:t>Project Objectives</a:t>
            </a:r>
            <a:endParaRPr lang="en-US" sz="3250" dirty="0"/>
          </a:p>
        </p:txBody>
      </p:sp>
      <p:sp>
        <p:nvSpPr>
          <p:cNvPr id="5" name="Shape 2"/>
          <p:cNvSpPr/>
          <p:nvPr/>
        </p:nvSpPr>
        <p:spPr>
          <a:xfrm>
            <a:off x="582930" y="1213247"/>
            <a:ext cx="7978140" cy="1535073"/>
          </a:xfrm>
          <a:prstGeom prst="roundRect">
            <a:avLst>
              <a:gd name="adj" fmla="val 4558"/>
            </a:avLst>
          </a:prstGeom>
          <a:solidFill>
            <a:srgbClr val="F7EDD4"/>
          </a:solidFill>
          <a:ln w="7620">
            <a:solidFill>
              <a:srgbClr val="DDD3BA"/>
            </a:solidFill>
            <a:prstDash val="solid"/>
          </a:ln>
        </p:spPr>
      </p:sp>
      <p:sp>
        <p:nvSpPr>
          <p:cNvPr id="6" name="Shape 3"/>
          <p:cNvSpPr/>
          <p:nvPr/>
        </p:nvSpPr>
        <p:spPr>
          <a:xfrm>
            <a:off x="757118" y="1387435"/>
            <a:ext cx="499705" cy="499705"/>
          </a:xfrm>
          <a:prstGeom prst="roundRect">
            <a:avLst>
              <a:gd name="adj" fmla="val 18296966"/>
            </a:avLst>
          </a:prstGeom>
          <a:solidFill>
            <a:srgbClr val="B88E23"/>
          </a:solidFill>
          <a:ln/>
        </p:spPr>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4517" y="1524833"/>
            <a:ext cx="224790" cy="224790"/>
          </a:xfrm>
          <a:prstGeom prst="rect">
            <a:avLst/>
          </a:prstGeom>
        </p:spPr>
      </p:pic>
      <p:sp>
        <p:nvSpPr>
          <p:cNvPr id="8" name="Text 4"/>
          <p:cNvSpPr/>
          <p:nvPr/>
        </p:nvSpPr>
        <p:spPr>
          <a:xfrm>
            <a:off x="757118" y="2009418"/>
            <a:ext cx="2082165" cy="260271"/>
          </a:xfrm>
          <a:prstGeom prst="rect">
            <a:avLst/>
          </a:prstGeom>
          <a:noFill/>
          <a:ln/>
        </p:spPr>
        <p:txBody>
          <a:bodyPr wrap="none" lIns="0" tIns="0" rIns="0" bIns="0" rtlCol="0" anchor="t"/>
          <a:lstStyle/>
          <a:p>
            <a:pPr marL="0" indent="0" algn="l">
              <a:lnSpc>
                <a:spcPts val="2000"/>
              </a:lnSpc>
              <a:buNone/>
            </a:pPr>
            <a:r>
              <a:rPr lang="en-US" sz="1600" dirty="0">
                <a:solidFill>
                  <a:srgbClr val="454240"/>
                </a:solidFill>
                <a:latin typeface="Libre Baskerville" pitchFamily="34" charset="0"/>
                <a:ea typeface="Libre Baskerville" pitchFamily="34" charset="-122"/>
                <a:cs typeface="Libre Baskerville" pitchFamily="34" charset="-120"/>
              </a:rPr>
              <a:t>Secure Auth</a:t>
            </a:r>
            <a:endParaRPr lang="en-US" sz="1600" dirty="0"/>
          </a:p>
        </p:txBody>
      </p:sp>
      <p:sp>
        <p:nvSpPr>
          <p:cNvPr id="9" name="Text 5"/>
          <p:cNvSpPr/>
          <p:nvPr/>
        </p:nvSpPr>
        <p:spPr>
          <a:xfrm>
            <a:off x="757118" y="2343031"/>
            <a:ext cx="7629763" cy="231100"/>
          </a:xfrm>
          <a:prstGeom prst="rect">
            <a:avLst/>
          </a:prstGeom>
          <a:noFill/>
          <a:ln/>
        </p:spPr>
        <p:txBody>
          <a:bodyPr wrap="none" lIns="0" tIns="0" rIns="0" bIns="0" rtlCol="0" anchor="t"/>
          <a:lstStyle/>
          <a:p>
            <a:pPr marL="0" indent="0" algn="l">
              <a:lnSpc>
                <a:spcPts val="1800"/>
              </a:lnSpc>
              <a:buNone/>
            </a:pPr>
            <a:r>
              <a:rPr lang="en-US" sz="1300" dirty="0">
                <a:solidFill>
                  <a:srgbClr val="454240"/>
                </a:solidFill>
                <a:latin typeface="DM Sans" pitchFamily="34" charset="0"/>
                <a:ea typeface="DM Sans" pitchFamily="34" charset="-122"/>
                <a:cs typeface="DM Sans" pitchFamily="34" charset="-120"/>
              </a:rPr>
              <a:t>Session-based user authentication</a:t>
            </a:r>
            <a:endParaRPr lang="en-US" sz="1300" dirty="0"/>
          </a:p>
        </p:txBody>
      </p:sp>
      <p:sp>
        <p:nvSpPr>
          <p:cNvPr id="10" name="Shape 6"/>
          <p:cNvSpPr/>
          <p:nvPr/>
        </p:nvSpPr>
        <p:spPr>
          <a:xfrm>
            <a:off x="582930" y="2870597"/>
            <a:ext cx="7978140" cy="1535073"/>
          </a:xfrm>
          <a:prstGeom prst="roundRect">
            <a:avLst>
              <a:gd name="adj" fmla="val 4558"/>
            </a:avLst>
          </a:prstGeom>
          <a:solidFill>
            <a:srgbClr val="F7EDD4"/>
          </a:solidFill>
          <a:ln w="7620">
            <a:solidFill>
              <a:srgbClr val="DDD3BA"/>
            </a:solidFill>
            <a:prstDash val="solid"/>
          </a:ln>
        </p:spPr>
      </p:sp>
      <p:sp>
        <p:nvSpPr>
          <p:cNvPr id="11" name="Shape 7"/>
          <p:cNvSpPr/>
          <p:nvPr/>
        </p:nvSpPr>
        <p:spPr>
          <a:xfrm>
            <a:off x="757118" y="3044785"/>
            <a:ext cx="499705" cy="499705"/>
          </a:xfrm>
          <a:prstGeom prst="roundRect">
            <a:avLst>
              <a:gd name="adj" fmla="val 18296966"/>
            </a:avLst>
          </a:prstGeom>
          <a:solidFill>
            <a:srgbClr val="B88E23"/>
          </a:solidFill>
          <a:ln/>
        </p:spPr>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4517" y="3182183"/>
            <a:ext cx="224790" cy="224790"/>
          </a:xfrm>
          <a:prstGeom prst="rect">
            <a:avLst/>
          </a:prstGeom>
        </p:spPr>
      </p:pic>
      <p:sp>
        <p:nvSpPr>
          <p:cNvPr id="13" name="Text 8"/>
          <p:cNvSpPr/>
          <p:nvPr/>
        </p:nvSpPr>
        <p:spPr>
          <a:xfrm>
            <a:off x="757118" y="3666768"/>
            <a:ext cx="2082165" cy="260271"/>
          </a:xfrm>
          <a:prstGeom prst="rect">
            <a:avLst/>
          </a:prstGeom>
          <a:noFill/>
          <a:ln/>
        </p:spPr>
        <p:txBody>
          <a:bodyPr wrap="none" lIns="0" tIns="0" rIns="0" bIns="0" rtlCol="0" anchor="t"/>
          <a:lstStyle/>
          <a:p>
            <a:pPr marL="0" indent="0" algn="l">
              <a:lnSpc>
                <a:spcPts val="2000"/>
              </a:lnSpc>
              <a:buNone/>
            </a:pPr>
            <a:r>
              <a:rPr lang="en-US" sz="1600" dirty="0">
                <a:solidFill>
                  <a:srgbClr val="454240"/>
                </a:solidFill>
                <a:latin typeface="Libre Baskerville" pitchFamily="34" charset="0"/>
                <a:ea typeface="Libre Baskerville" pitchFamily="34" charset="-122"/>
                <a:cs typeface="Libre Baskerville" pitchFamily="34" charset="-120"/>
              </a:rPr>
              <a:t>Cart &amp; Orders</a:t>
            </a:r>
            <a:endParaRPr lang="en-US" sz="1600" dirty="0"/>
          </a:p>
        </p:txBody>
      </p:sp>
      <p:sp>
        <p:nvSpPr>
          <p:cNvPr id="14" name="Text 9"/>
          <p:cNvSpPr/>
          <p:nvPr/>
        </p:nvSpPr>
        <p:spPr>
          <a:xfrm>
            <a:off x="757118" y="4000381"/>
            <a:ext cx="7629763" cy="231100"/>
          </a:xfrm>
          <a:prstGeom prst="rect">
            <a:avLst/>
          </a:prstGeom>
          <a:noFill/>
          <a:ln/>
        </p:spPr>
        <p:txBody>
          <a:bodyPr wrap="none" lIns="0" tIns="0" rIns="0" bIns="0" rtlCol="0" anchor="t"/>
          <a:lstStyle/>
          <a:p>
            <a:pPr marL="0" indent="0" algn="l">
              <a:lnSpc>
                <a:spcPts val="1800"/>
              </a:lnSpc>
              <a:buNone/>
            </a:pPr>
            <a:r>
              <a:rPr lang="en-US" sz="1300" dirty="0">
                <a:solidFill>
                  <a:srgbClr val="454240"/>
                </a:solidFill>
                <a:latin typeface="DM Sans" pitchFamily="34" charset="0"/>
                <a:ea typeface="DM Sans" pitchFamily="34" charset="-122"/>
                <a:cs typeface="DM Sans" pitchFamily="34" charset="-120"/>
              </a:rPr>
              <a:t>Full cart and checkout functionality</a:t>
            </a:r>
            <a:endParaRPr lang="en-US" sz="1300" dirty="0"/>
          </a:p>
        </p:txBody>
      </p:sp>
      <p:sp>
        <p:nvSpPr>
          <p:cNvPr id="15" name="Shape 10"/>
          <p:cNvSpPr/>
          <p:nvPr/>
        </p:nvSpPr>
        <p:spPr>
          <a:xfrm>
            <a:off x="582930" y="4527947"/>
            <a:ext cx="7978140" cy="1535073"/>
          </a:xfrm>
          <a:prstGeom prst="roundRect">
            <a:avLst>
              <a:gd name="adj" fmla="val 4558"/>
            </a:avLst>
          </a:prstGeom>
          <a:solidFill>
            <a:srgbClr val="F7EDD4"/>
          </a:solidFill>
          <a:ln w="7620">
            <a:solidFill>
              <a:srgbClr val="DDD3BA"/>
            </a:solidFill>
            <a:prstDash val="solid"/>
          </a:ln>
        </p:spPr>
      </p:sp>
      <p:sp>
        <p:nvSpPr>
          <p:cNvPr id="16" name="Shape 11"/>
          <p:cNvSpPr/>
          <p:nvPr/>
        </p:nvSpPr>
        <p:spPr>
          <a:xfrm>
            <a:off x="757118" y="4702135"/>
            <a:ext cx="499705" cy="499705"/>
          </a:xfrm>
          <a:prstGeom prst="roundRect">
            <a:avLst>
              <a:gd name="adj" fmla="val 18296966"/>
            </a:avLst>
          </a:prstGeom>
          <a:solidFill>
            <a:srgbClr val="B88E23"/>
          </a:solidFill>
          <a:ln/>
        </p:spPr>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4517" y="4839533"/>
            <a:ext cx="224790" cy="224790"/>
          </a:xfrm>
          <a:prstGeom prst="rect">
            <a:avLst/>
          </a:prstGeom>
        </p:spPr>
      </p:pic>
      <p:sp>
        <p:nvSpPr>
          <p:cNvPr id="18" name="Text 12"/>
          <p:cNvSpPr/>
          <p:nvPr/>
        </p:nvSpPr>
        <p:spPr>
          <a:xfrm>
            <a:off x="757118" y="5324118"/>
            <a:ext cx="2082165" cy="260271"/>
          </a:xfrm>
          <a:prstGeom prst="rect">
            <a:avLst/>
          </a:prstGeom>
          <a:noFill/>
          <a:ln/>
        </p:spPr>
        <p:txBody>
          <a:bodyPr wrap="none" lIns="0" tIns="0" rIns="0" bIns="0" rtlCol="0" anchor="t"/>
          <a:lstStyle/>
          <a:p>
            <a:pPr marL="0" indent="0" algn="l">
              <a:lnSpc>
                <a:spcPts val="2000"/>
              </a:lnSpc>
              <a:buNone/>
            </a:pPr>
            <a:r>
              <a:rPr lang="en-US" sz="1600" dirty="0">
                <a:solidFill>
                  <a:srgbClr val="454240"/>
                </a:solidFill>
                <a:latin typeface="Libre Baskerville" pitchFamily="34" charset="0"/>
                <a:ea typeface="Libre Baskerville" pitchFamily="34" charset="-122"/>
                <a:cs typeface="Libre Baskerville" pitchFamily="34" charset="-120"/>
              </a:rPr>
              <a:t>MySQL Storage</a:t>
            </a:r>
            <a:endParaRPr lang="en-US" sz="1600" dirty="0"/>
          </a:p>
        </p:txBody>
      </p:sp>
      <p:sp>
        <p:nvSpPr>
          <p:cNvPr id="19" name="Text 13"/>
          <p:cNvSpPr/>
          <p:nvPr/>
        </p:nvSpPr>
        <p:spPr>
          <a:xfrm>
            <a:off x="757118" y="5657731"/>
            <a:ext cx="7629763" cy="231100"/>
          </a:xfrm>
          <a:prstGeom prst="rect">
            <a:avLst/>
          </a:prstGeom>
          <a:noFill/>
          <a:ln/>
        </p:spPr>
        <p:txBody>
          <a:bodyPr wrap="none" lIns="0" tIns="0" rIns="0" bIns="0" rtlCol="0" anchor="t"/>
          <a:lstStyle/>
          <a:p>
            <a:pPr marL="0" indent="0" algn="l">
              <a:lnSpc>
                <a:spcPts val="1800"/>
              </a:lnSpc>
              <a:buNone/>
            </a:pPr>
            <a:r>
              <a:rPr lang="en-US" sz="1300" dirty="0">
                <a:solidFill>
                  <a:srgbClr val="454240"/>
                </a:solidFill>
                <a:latin typeface="DM Sans" pitchFamily="34" charset="0"/>
                <a:ea typeface="DM Sans" pitchFamily="34" charset="-122"/>
                <a:cs typeface="DM Sans" pitchFamily="34" charset="-120"/>
              </a:rPr>
              <a:t>Efficient data management</a:t>
            </a:r>
            <a:endParaRPr lang="en-US" sz="1300" dirty="0"/>
          </a:p>
        </p:txBody>
      </p:sp>
      <p:sp>
        <p:nvSpPr>
          <p:cNvPr id="20" name="Shape 14"/>
          <p:cNvSpPr/>
          <p:nvPr/>
        </p:nvSpPr>
        <p:spPr>
          <a:xfrm>
            <a:off x="582930" y="6185297"/>
            <a:ext cx="7978140" cy="1535073"/>
          </a:xfrm>
          <a:prstGeom prst="roundRect">
            <a:avLst>
              <a:gd name="adj" fmla="val 4558"/>
            </a:avLst>
          </a:prstGeom>
          <a:solidFill>
            <a:srgbClr val="F7EDD4"/>
          </a:solidFill>
          <a:ln w="7620">
            <a:solidFill>
              <a:srgbClr val="DDD3BA"/>
            </a:solidFill>
            <a:prstDash val="solid"/>
          </a:ln>
        </p:spPr>
      </p:sp>
      <p:sp>
        <p:nvSpPr>
          <p:cNvPr id="21" name="Shape 15"/>
          <p:cNvSpPr/>
          <p:nvPr/>
        </p:nvSpPr>
        <p:spPr>
          <a:xfrm>
            <a:off x="757118" y="6359485"/>
            <a:ext cx="499705" cy="499705"/>
          </a:xfrm>
          <a:prstGeom prst="roundRect">
            <a:avLst>
              <a:gd name="adj" fmla="val 18296966"/>
            </a:avLst>
          </a:prstGeom>
          <a:solidFill>
            <a:srgbClr val="B88E23"/>
          </a:solidFill>
          <a:ln/>
        </p:spPr>
      </p:sp>
      <p:pic>
        <p:nvPicPr>
          <p:cNvPr id="2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4517" y="6496883"/>
            <a:ext cx="224790" cy="224790"/>
          </a:xfrm>
          <a:prstGeom prst="rect">
            <a:avLst/>
          </a:prstGeom>
        </p:spPr>
      </p:pic>
      <p:sp>
        <p:nvSpPr>
          <p:cNvPr id="23" name="Text 16"/>
          <p:cNvSpPr/>
          <p:nvPr/>
        </p:nvSpPr>
        <p:spPr>
          <a:xfrm>
            <a:off x="757118" y="6981468"/>
            <a:ext cx="2082165" cy="260271"/>
          </a:xfrm>
          <a:prstGeom prst="rect">
            <a:avLst/>
          </a:prstGeom>
          <a:noFill/>
          <a:ln/>
        </p:spPr>
        <p:txBody>
          <a:bodyPr wrap="none" lIns="0" tIns="0" rIns="0" bIns="0" rtlCol="0" anchor="t"/>
          <a:lstStyle/>
          <a:p>
            <a:pPr marL="0" indent="0" algn="l">
              <a:lnSpc>
                <a:spcPts val="2000"/>
              </a:lnSpc>
              <a:buNone/>
            </a:pPr>
            <a:r>
              <a:rPr lang="en-US" sz="1600" dirty="0">
                <a:solidFill>
                  <a:srgbClr val="454240"/>
                </a:solidFill>
                <a:latin typeface="Libre Baskerville" pitchFamily="34" charset="0"/>
                <a:ea typeface="Libre Baskerville" pitchFamily="34" charset="-122"/>
                <a:cs typeface="Libre Baskerville" pitchFamily="34" charset="-120"/>
              </a:rPr>
              <a:t>Admin Panel</a:t>
            </a:r>
            <a:endParaRPr lang="en-US" sz="1600" dirty="0"/>
          </a:p>
        </p:txBody>
      </p:sp>
      <p:sp>
        <p:nvSpPr>
          <p:cNvPr id="24" name="Text 17"/>
          <p:cNvSpPr/>
          <p:nvPr/>
        </p:nvSpPr>
        <p:spPr>
          <a:xfrm>
            <a:off x="757118" y="7315081"/>
            <a:ext cx="7629763" cy="231100"/>
          </a:xfrm>
          <a:prstGeom prst="rect">
            <a:avLst/>
          </a:prstGeom>
          <a:noFill/>
          <a:ln/>
        </p:spPr>
        <p:txBody>
          <a:bodyPr wrap="none" lIns="0" tIns="0" rIns="0" bIns="0" rtlCol="0" anchor="t"/>
          <a:lstStyle/>
          <a:p>
            <a:pPr marL="0" indent="0" algn="l">
              <a:lnSpc>
                <a:spcPts val="1800"/>
              </a:lnSpc>
              <a:buNone/>
            </a:pPr>
            <a:r>
              <a:rPr lang="en-US" sz="1300" dirty="0">
                <a:solidFill>
                  <a:srgbClr val="454240"/>
                </a:solidFill>
                <a:latin typeface="DM Sans" pitchFamily="34" charset="0"/>
                <a:ea typeface="DM Sans" pitchFamily="34" charset="-122"/>
                <a:cs typeface="DM Sans" pitchFamily="34" charset="-120"/>
              </a:rPr>
              <a:t>Full control over products, users &amp; orders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4628" y="537091"/>
            <a:ext cx="7454622" cy="586978"/>
          </a:xfrm>
          <a:prstGeom prst="rect">
            <a:avLst/>
          </a:prstGeom>
          <a:noFill/>
          <a:ln/>
        </p:spPr>
        <p:txBody>
          <a:bodyPr wrap="none" lIns="0" tIns="0" rIns="0" bIns="0" rtlCol="0" anchor="t"/>
          <a:lstStyle/>
          <a:p>
            <a:pPr marL="0" indent="0" algn="l">
              <a:lnSpc>
                <a:spcPts val="4600"/>
              </a:lnSpc>
              <a:buNone/>
            </a:pPr>
            <a:r>
              <a:rPr lang="en-US" sz="3650" dirty="0">
                <a:solidFill>
                  <a:srgbClr val="5C4E3D"/>
                </a:solidFill>
                <a:latin typeface="Libre Baskerville" pitchFamily="34" charset="0"/>
                <a:ea typeface="Libre Baskerville" pitchFamily="34" charset="-122"/>
                <a:cs typeface="Libre Baskerville" pitchFamily="34" charset="-120"/>
              </a:rPr>
              <a:t>User Journey: Placing an Order</a:t>
            </a:r>
            <a:endParaRPr lang="en-US" sz="3650" dirty="0"/>
          </a:p>
        </p:txBody>
      </p:sp>
      <p:sp>
        <p:nvSpPr>
          <p:cNvPr id="3" name="Shape 1"/>
          <p:cNvSpPr/>
          <p:nvPr/>
        </p:nvSpPr>
        <p:spPr>
          <a:xfrm>
            <a:off x="834628" y="1435179"/>
            <a:ext cx="751284" cy="1127046"/>
          </a:xfrm>
          <a:prstGeom prst="roundRect">
            <a:avLst>
              <a:gd name="adj" fmla="val 360040"/>
            </a:avLst>
          </a:prstGeom>
          <a:solidFill>
            <a:srgbClr val="F7EDD4"/>
          </a:solidFill>
          <a:ln w="7620">
            <a:solidFill>
              <a:srgbClr val="DDD3BA"/>
            </a:solidFill>
            <a:prstDash val="solid"/>
          </a:ln>
        </p:spPr>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419" y="1857851"/>
            <a:ext cx="281702" cy="281702"/>
          </a:xfrm>
          <a:prstGeom prst="rect">
            <a:avLst/>
          </a:prstGeom>
        </p:spPr>
      </p:pic>
      <p:sp>
        <p:nvSpPr>
          <p:cNvPr id="5" name="Text 2"/>
          <p:cNvSpPr/>
          <p:nvPr/>
        </p:nvSpPr>
        <p:spPr>
          <a:xfrm>
            <a:off x="1741408" y="1622941"/>
            <a:ext cx="2347912" cy="293489"/>
          </a:xfrm>
          <a:prstGeom prst="rect">
            <a:avLst/>
          </a:prstGeom>
          <a:noFill/>
          <a:ln/>
        </p:spPr>
        <p:txBody>
          <a:bodyPr wrap="none" lIns="0" tIns="0" rIns="0" bIns="0" rtlCol="0" anchor="t"/>
          <a:lstStyle/>
          <a:p>
            <a:pPr marL="0" indent="0" algn="l">
              <a:lnSpc>
                <a:spcPts val="2300"/>
              </a:lnSpc>
              <a:buNone/>
            </a:pPr>
            <a:r>
              <a:rPr lang="en-US" sz="1800" dirty="0">
                <a:solidFill>
                  <a:srgbClr val="454240"/>
                </a:solidFill>
                <a:latin typeface="Libre Baskerville" pitchFamily="34" charset="0"/>
                <a:ea typeface="Libre Baskerville" pitchFamily="34" charset="-122"/>
                <a:cs typeface="Libre Baskerville" pitchFamily="34" charset="-120"/>
              </a:rPr>
              <a:t>Open Homepage</a:t>
            </a:r>
            <a:endParaRPr lang="en-US" sz="1800" dirty="0"/>
          </a:p>
        </p:txBody>
      </p:sp>
      <p:sp>
        <p:nvSpPr>
          <p:cNvPr id="6" name="Text 3"/>
          <p:cNvSpPr/>
          <p:nvPr/>
        </p:nvSpPr>
        <p:spPr>
          <a:xfrm>
            <a:off x="1741408" y="2009656"/>
            <a:ext cx="12054245" cy="274677"/>
          </a:xfrm>
          <a:prstGeom prst="rect">
            <a:avLst/>
          </a:prstGeom>
          <a:noFill/>
          <a:ln/>
        </p:spPr>
        <p:txBody>
          <a:bodyPr wrap="none" lIns="0" tIns="0" rIns="0" bIns="0" rtlCol="0" anchor="t"/>
          <a:lstStyle/>
          <a:p>
            <a:pPr marL="0" indent="0" algn="l">
              <a:lnSpc>
                <a:spcPts val="2150"/>
              </a:lnSpc>
              <a:buNone/>
            </a:pPr>
            <a:r>
              <a:rPr lang="en-US" sz="1450" dirty="0">
                <a:solidFill>
                  <a:srgbClr val="454240"/>
                </a:solidFill>
                <a:latin typeface="DM Sans" pitchFamily="34" charset="0"/>
                <a:ea typeface="DM Sans" pitchFamily="34" charset="-122"/>
                <a:cs typeface="DM Sans" pitchFamily="34" charset="-120"/>
              </a:rPr>
              <a:t>Browse available products</a:t>
            </a:r>
            <a:endParaRPr lang="en-US" sz="1450" dirty="0"/>
          </a:p>
        </p:txBody>
      </p:sp>
      <p:sp>
        <p:nvSpPr>
          <p:cNvPr id="7" name="Shape 4"/>
          <p:cNvSpPr/>
          <p:nvPr/>
        </p:nvSpPr>
        <p:spPr>
          <a:xfrm>
            <a:off x="8287538" y="1318886"/>
            <a:ext cx="751284" cy="1127046"/>
          </a:xfrm>
          <a:prstGeom prst="roundRect">
            <a:avLst>
              <a:gd name="adj" fmla="val 360040"/>
            </a:avLst>
          </a:prstGeom>
          <a:solidFill>
            <a:srgbClr val="F7EDD4"/>
          </a:solidFill>
          <a:ln w="7620">
            <a:solidFill>
              <a:srgbClr val="DDD3BA"/>
            </a:solidFill>
            <a:prstDash val="solid"/>
          </a:ln>
        </p:spPr>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19531" y="1711107"/>
            <a:ext cx="281702" cy="281702"/>
          </a:xfrm>
          <a:prstGeom prst="rect">
            <a:avLst/>
          </a:prstGeom>
        </p:spPr>
      </p:pic>
      <p:sp>
        <p:nvSpPr>
          <p:cNvPr id="9" name="Text 5"/>
          <p:cNvSpPr/>
          <p:nvPr/>
        </p:nvSpPr>
        <p:spPr>
          <a:xfrm>
            <a:off x="9131560" y="1564362"/>
            <a:ext cx="2347912" cy="293489"/>
          </a:xfrm>
          <a:prstGeom prst="rect">
            <a:avLst/>
          </a:prstGeom>
          <a:noFill/>
          <a:ln/>
        </p:spPr>
        <p:txBody>
          <a:bodyPr wrap="none" lIns="0" tIns="0" rIns="0" bIns="0" rtlCol="0" anchor="t"/>
          <a:lstStyle/>
          <a:p>
            <a:pPr marL="0" indent="0" algn="l">
              <a:lnSpc>
                <a:spcPts val="2300"/>
              </a:lnSpc>
              <a:buNone/>
            </a:pPr>
            <a:r>
              <a:rPr lang="en-US" sz="1800" dirty="0">
                <a:solidFill>
                  <a:srgbClr val="454240"/>
                </a:solidFill>
                <a:latin typeface="Libre Baskerville" pitchFamily="34" charset="0"/>
                <a:ea typeface="Libre Baskerville" pitchFamily="34" charset="-122"/>
                <a:cs typeface="Libre Baskerville" pitchFamily="34" charset="-120"/>
              </a:rPr>
              <a:t>Select Product</a:t>
            </a:r>
            <a:endParaRPr lang="en-US" sz="1800" dirty="0"/>
          </a:p>
        </p:txBody>
      </p:sp>
      <p:sp>
        <p:nvSpPr>
          <p:cNvPr id="10" name="Text 6"/>
          <p:cNvSpPr/>
          <p:nvPr/>
        </p:nvSpPr>
        <p:spPr>
          <a:xfrm>
            <a:off x="9115319" y="1916430"/>
            <a:ext cx="2619481" cy="274677"/>
          </a:xfrm>
          <a:prstGeom prst="rect">
            <a:avLst/>
          </a:prstGeom>
          <a:noFill/>
          <a:ln/>
        </p:spPr>
        <p:txBody>
          <a:bodyPr wrap="none" lIns="0" tIns="0" rIns="0" bIns="0" rtlCol="0" anchor="t"/>
          <a:lstStyle/>
          <a:p>
            <a:pPr marL="0" indent="0" algn="l">
              <a:lnSpc>
                <a:spcPts val="2150"/>
              </a:lnSpc>
              <a:buNone/>
            </a:pPr>
            <a:r>
              <a:rPr lang="en-US" sz="1450" dirty="0">
                <a:solidFill>
                  <a:srgbClr val="454240"/>
                </a:solidFill>
                <a:latin typeface="DM Sans" pitchFamily="34" charset="0"/>
                <a:ea typeface="DM Sans" pitchFamily="34" charset="-122"/>
                <a:cs typeface="DM Sans" pitchFamily="34" charset="-120"/>
              </a:rPr>
              <a:t>View full product details</a:t>
            </a:r>
            <a:endParaRPr lang="en-US" sz="1450" dirty="0"/>
          </a:p>
        </p:txBody>
      </p:sp>
      <p:sp>
        <p:nvSpPr>
          <p:cNvPr id="23" name="TextBox 22"/>
          <p:cNvSpPr txBox="1"/>
          <p:nvPr/>
        </p:nvSpPr>
        <p:spPr>
          <a:xfrm>
            <a:off x="12379569" y="7656844"/>
            <a:ext cx="2250831" cy="493170"/>
          </a:xfrm>
          <a:prstGeom prst="rect">
            <a:avLst/>
          </a:prstGeom>
          <a:solidFill>
            <a:schemeClr val="bg1"/>
          </a:solidFill>
        </p:spPr>
        <p:txBody>
          <a:bodyPr wrap="square" rtlCol="0">
            <a:spAutoFit/>
          </a:bodyPr>
          <a:lstStyle/>
          <a:p>
            <a:endParaRPr lang="en-US" dirty="0"/>
          </a:p>
        </p:txBody>
      </p:sp>
      <p:pic>
        <p:nvPicPr>
          <p:cNvPr id="24" name="Picture 23"/>
          <p:cNvPicPr/>
          <p:nvPr/>
        </p:nvPicPr>
        <p:blipFill>
          <a:blip r:embed="rId5"/>
          <a:stretch>
            <a:fillRect/>
          </a:stretch>
        </p:blipFill>
        <p:spPr>
          <a:xfrm>
            <a:off x="1585912" y="2489136"/>
            <a:ext cx="4890727" cy="2999121"/>
          </a:xfrm>
          <a:prstGeom prst="rect">
            <a:avLst/>
          </a:prstGeom>
        </p:spPr>
      </p:pic>
      <p:pic>
        <p:nvPicPr>
          <p:cNvPr id="25" name="Picture 24"/>
          <p:cNvPicPr/>
          <p:nvPr/>
        </p:nvPicPr>
        <p:blipFill>
          <a:blip r:embed="rId6"/>
          <a:stretch>
            <a:fillRect/>
          </a:stretch>
        </p:blipFill>
        <p:spPr>
          <a:xfrm>
            <a:off x="8660382" y="2462779"/>
            <a:ext cx="5429318" cy="302547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7"/>
          <p:cNvSpPr/>
          <p:nvPr/>
        </p:nvSpPr>
        <p:spPr>
          <a:xfrm>
            <a:off x="834628" y="957262"/>
            <a:ext cx="751284" cy="1127046"/>
          </a:xfrm>
          <a:prstGeom prst="roundRect">
            <a:avLst>
              <a:gd name="adj" fmla="val 360040"/>
            </a:avLst>
          </a:prstGeom>
          <a:solidFill>
            <a:srgbClr val="F7EDD4"/>
          </a:solidFill>
          <a:ln w="7620">
            <a:solidFill>
              <a:srgbClr val="DDD3BA"/>
            </a:solidFill>
            <a:prstDash val="solid"/>
          </a:ln>
        </p:spPr>
      </p:sp>
      <p:pic>
        <p:nvPicPr>
          <p:cNvPr id="3" name="Image 2" descr="preencoded.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9419" y="1394928"/>
            <a:ext cx="281702" cy="281702"/>
          </a:xfrm>
          <a:prstGeom prst="rect">
            <a:avLst/>
          </a:prstGeom>
        </p:spPr>
      </p:pic>
      <p:sp>
        <p:nvSpPr>
          <p:cNvPr id="4" name="Text 8"/>
          <p:cNvSpPr/>
          <p:nvPr/>
        </p:nvSpPr>
        <p:spPr>
          <a:xfrm>
            <a:off x="1741408" y="1145023"/>
            <a:ext cx="2347912" cy="293489"/>
          </a:xfrm>
          <a:prstGeom prst="rect">
            <a:avLst/>
          </a:prstGeom>
          <a:noFill/>
          <a:ln/>
        </p:spPr>
        <p:txBody>
          <a:bodyPr wrap="none" lIns="0" tIns="0" rIns="0" bIns="0" rtlCol="0" anchor="t"/>
          <a:lstStyle/>
          <a:p>
            <a:pPr marL="0" indent="0" algn="l">
              <a:lnSpc>
                <a:spcPts val="2300"/>
              </a:lnSpc>
              <a:buNone/>
            </a:pPr>
            <a:r>
              <a:rPr lang="en-US" sz="1800" dirty="0">
                <a:solidFill>
                  <a:srgbClr val="454240"/>
                </a:solidFill>
                <a:latin typeface="Libre Baskerville" pitchFamily="34" charset="0"/>
                <a:ea typeface="Libre Baskerville" pitchFamily="34" charset="-122"/>
                <a:cs typeface="Libre Baskerville" pitchFamily="34" charset="-120"/>
              </a:rPr>
              <a:t>Add to Cart</a:t>
            </a:r>
            <a:endParaRPr lang="en-US" sz="1800" dirty="0"/>
          </a:p>
        </p:txBody>
      </p:sp>
      <p:sp>
        <p:nvSpPr>
          <p:cNvPr id="5" name="Shape 10"/>
          <p:cNvSpPr/>
          <p:nvPr/>
        </p:nvSpPr>
        <p:spPr>
          <a:xfrm>
            <a:off x="7392888" y="957262"/>
            <a:ext cx="751284" cy="1127046"/>
          </a:xfrm>
          <a:prstGeom prst="roundRect">
            <a:avLst>
              <a:gd name="adj" fmla="val 360040"/>
            </a:avLst>
          </a:prstGeom>
          <a:solidFill>
            <a:srgbClr val="F7EDD4"/>
          </a:solidFill>
          <a:ln w="7620">
            <a:solidFill>
              <a:srgbClr val="DDD3BA"/>
            </a:solidFill>
            <a:prstDash val="solid"/>
          </a:ln>
        </p:spPr>
      </p:sp>
      <p:pic>
        <p:nvPicPr>
          <p:cNvPr id="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7679" y="1374675"/>
            <a:ext cx="281702" cy="281702"/>
          </a:xfrm>
          <a:prstGeom prst="rect">
            <a:avLst/>
          </a:prstGeom>
        </p:spPr>
      </p:pic>
      <p:sp>
        <p:nvSpPr>
          <p:cNvPr id="7" name="Text 11"/>
          <p:cNvSpPr/>
          <p:nvPr/>
        </p:nvSpPr>
        <p:spPr>
          <a:xfrm>
            <a:off x="8294072" y="1133990"/>
            <a:ext cx="2347912" cy="293489"/>
          </a:xfrm>
          <a:prstGeom prst="rect">
            <a:avLst/>
          </a:prstGeom>
          <a:noFill/>
          <a:ln/>
        </p:spPr>
        <p:txBody>
          <a:bodyPr wrap="none" lIns="0" tIns="0" rIns="0" bIns="0" rtlCol="0" anchor="t"/>
          <a:lstStyle/>
          <a:p>
            <a:pPr marL="0" indent="0" algn="l">
              <a:lnSpc>
                <a:spcPts val="2300"/>
              </a:lnSpc>
              <a:buNone/>
            </a:pPr>
            <a:r>
              <a:rPr lang="en-US" sz="1800" dirty="0">
                <a:solidFill>
                  <a:srgbClr val="454240"/>
                </a:solidFill>
                <a:latin typeface="Libre Baskerville" pitchFamily="34" charset="0"/>
                <a:ea typeface="Libre Baskerville" pitchFamily="34" charset="-122"/>
                <a:cs typeface="Libre Baskerville" pitchFamily="34" charset="-120"/>
              </a:rPr>
              <a:t>Checkout</a:t>
            </a:r>
            <a:endParaRPr lang="en-US" sz="1800" dirty="0"/>
          </a:p>
        </p:txBody>
      </p:sp>
      <p:sp>
        <p:nvSpPr>
          <p:cNvPr id="8" name="Shape 13"/>
          <p:cNvSpPr/>
          <p:nvPr/>
        </p:nvSpPr>
        <p:spPr>
          <a:xfrm>
            <a:off x="834628" y="5430840"/>
            <a:ext cx="751284" cy="1127046"/>
          </a:xfrm>
          <a:prstGeom prst="roundRect">
            <a:avLst>
              <a:gd name="adj" fmla="val 360040"/>
            </a:avLst>
          </a:prstGeom>
          <a:solidFill>
            <a:srgbClr val="F7EDD4"/>
          </a:solidFill>
          <a:ln w="7620">
            <a:solidFill>
              <a:srgbClr val="DDD3BA"/>
            </a:solidFill>
            <a:prstDash val="solid"/>
          </a:ln>
        </p:spPr>
      </p:sp>
      <p:pic>
        <p:nvPicPr>
          <p:cNvPr id="9"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1406" y="5853512"/>
            <a:ext cx="281702" cy="281702"/>
          </a:xfrm>
          <a:prstGeom prst="rect">
            <a:avLst/>
          </a:prstGeom>
        </p:spPr>
      </p:pic>
      <p:sp>
        <p:nvSpPr>
          <p:cNvPr id="10" name="Text 14"/>
          <p:cNvSpPr/>
          <p:nvPr/>
        </p:nvSpPr>
        <p:spPr>
          <a:xfrm>
            <a:off x="1741408" y="5700874"/>
            <a:ext cx="2347912" cy="293489"/>
          </a:xfrm>
          <a:prstGeom prst="rect">
            <a:avLst/>
          </a:prstGeom>
          <a:noFill/>
          <a:ln/>
        </p:spPr>
        <p:txBody>
          <a:bodyPr wrap="none" lIns="0" tIns="0" rIns="0" bIns="0" rtlCol="0" anchor="t"/>
          <a:lstStyle/>
          <a:p>
            <a:pPr marL="0" indent="0" algn="l">
              <a:lnSpc>
                <a:spcPts val="2300"/>
              </a:lnSpc>
              <a:buNone/>
            </a:pPr>
            <a:r>
              <a:rPr lang="en-US" sz="1800" dirty="0">
                <a:solidFill>
                  <a:srgbClr val="454240"/>
                </a:solidFill>
                <a:latin typeface="Libre Baskerville" pitchFamily="34" charset="0"/>
                <a:ea typeface="Libre Baskerville" pitchFamily="34" charset="-122"/>
                <a:cs typeface="Libre Baskerville" pitchFamily="34" charset="-120"/>
              </a:rPr>
              <a:t>Order Confirmed</a:t>
            </a:r>
            <a:endParaRPr lang="en-US" sz="1800" dirty="0"/>
          </a:p>
        </p:txBody>
      </p:sp>
      <p:sp>
        <p:nvSpPr>
          <p:cNvPr id="11" name="Text 9"/>
          <p:cNvSpPr/>
          <p:nvPr/>
        </p:nvSpPr>
        <p:spPr>
          <a:xfrm>
            <a:off x="1741408" y="1411814"/>
            <a:ext cx="12054245" cy="274677"/>
          </a:xfrm>
          <a:prstGeom prst="rect">
            <a:avLst/>
          </a:prstGeom>
          <a:noFill/>
          <a:ln/>
        </p:spPr>
        <p:txBody>
          <a:bodyPr wrap="none" lIns="0" tIns="0" rIns="0" bIns="0" rtlCol="0" anchor="t"/>
          <a:lstStyle/>
          <a:p>
            <a:pPr marL="0" indent="0" algn="l">
              <a:lnSpc>
                <a:spcPts val="2150"/>
              </a:lnSpc>
              <a:buNone/>
            </a:pPr>
            <a:r>
              <a:rPr lang="en-US" sz="1450" dirty="0">
                <a:solidFill>
                  <a:srgbClr val="454240"/>
                </a:solidFill>
                <a:latin typeface="DM Sans" pitchFamily="34" charset="0"/>
                <a:ea typeface="DM Sans" pitchFamily="34" charset="-122"/>
                <a:cs typeface="DM Sans" pitchFamily="34" charset="-120"/>
              </a:rPr>
              <a:t>Items stored in session</a:t>
            </a:r>
            <a:endParaRPr lang="en-US" sz="1450" dirty="0"/>
          </a:p>
        </p:txBody>
      </p:sp>
      <p:sp>
        <p:nvSpPr>
          <p:cNvPr id="12" name="Text 12"/>
          <p:cNvSpPr/>
          <p:nvPr/>
        </p:nvSpPr>
        <p:spPr>
          <a:xfrm>
            <a:off x="8273783" y="1389666"/>
            <a:ext cx="2913877" cy="364620"/>
          </a:xfrm>
          <a:prstGeom prst="rect">
            <a:avLst/>
          </a:prstGeom>
          <a:noFill/>
          <a:ln/>
        </p:spPr>
        <p:txBody>
          <a:bodyPr wrap="none" lIns="0" tIns="0" rIns="0" bIns="0" rtlCol="0" anchor="t"/>
          <a:lstStyle/>
          <a:p>
            <a:pPr marL="0" indent="0" algn="l">
              <a:lnSpc>
                <a:spcPts val="2150"/>
              </a:lnSpc>
              <a:buNone/>
            </a:pPr>
            <a:r>
              <a:rPr lang="en-US" sz="1450" dirty="0">
                <a:solidFill>
                  <a:srgbClr val="454240"/>
                </a:solidFill>
                <a:latin typeface="DM Sans" pitchFamily="34" charset="0"/>
                <a:ea typeface="DM Sans" pitchFamily="34" charset="-122"/>
                <a:cs typeface="DM Sans" pitchFamily="34" charset="-120"/>
              </a:rPr>
              <a:t>Review cart and confirm</a:t>
            </a:r>
            <a:endParaRPr lang="en-US" sz="1450" dirty="0"/>
          </a:p>
        </p:txBody>
      </p:sp>
      <p:sp>
        <p:nvSpPr>
          <p:cNvPr id="13" name="Text 15"/>
          <p:cNvSpPr/>
          <p:nvPr/>
        </p:nvSpPr>
        <p:spPr>
          <a:xfrm>
            <a:off x="1771388" y="5998866"/>
            <a:ext cx="2186016" cy="274677"/>
          </a:xfrm>
          <a:prstGeom prst="rect">
            <a:avLst/>
          </a:prstGeom>
          <a:noFill/>
          <a:ln/>
        </p:spPr>
        <p:txBody>
          <a:bodyPr wrap="none" lIns="0" tIns="0" rIns="0" bIns="0" rtlCol="0" anchor="t"/>
          <a:lstStyle/>
          <a:p>
            <a:pPr marL="0" indent="0" algn="l">
              <a:lnSpc>
                <a:spcPts val="2150"/>
              </a:lnSpc>
              <a:buNone/>
            </a:pPr>
            <a:r>
              <a:rPr lang="en-US" sz="1450" dirty="0">
                <a:solidFill>
                  <a:srgbClr val="454240"/>
                </a:solidFill>
                <a:latin typeface="DM Sans" pitchFamily="34" charset="0"/>
                <a:ea typeface="DM Sans" pitchFamily="34" charset="-122"/>
                <a:cs typeface="DM Sans" pitchFamily="34" charset="-120"/>
              </a:rPr>
              <a:t>Saved to database</a:t>
            </a:r>
            <a:endParaRPr lang="en-US" sz="1450" dirty="0"/>
          </a:p>
        </p:txBody>
      </p:sp>
      <p:pic>
        <p:nvPicPr>
          <p:cNvPr id="15" name="Picture 14"/>
          <p:cNvPicPr/>
          <p:nvPr/>
        </p:nvPicPr>
        <p:blipFill>
          <a:blip r:embed="rId5"/>
          <a:stretch>
            <a:fillRect/>
          </a:stretch>
        </p:blipFill>
        <p:spPr>
          <a:xfrm>
            <a:off x="1654154" y="1779717"/>
            <a:ext cx="4446843" cy="2717332"/>
          </a:xfrm>
          <a:prstGeom prst="rect">
            <a:avLst/>
          </a:prstGeom>
        </p:spPr>
      </p:pic>
      <p:pic>
        <p:nvPicPr>
          <p:cNvPr id="16" name="Picture 15"/>
          <p:cNvPicPr/>
          <p:nvPr/>
        </p:nvPicPr>
        <p:blipFill>
          <a:blip r:embed="rId6"/>
          <a:stretch>
            <a:fillRect/>
          </a:stretch>
        </p:blipFill>
        <p:spPr>
          <a:xfrm>
            <a:off x="8228813" y="1844485"/>
            <a:ext cx="5259351" cy="2873605"/>
          </a:xfrm>
          <a:prstGeom prst="rect">
            <a:avLst/>
          </a:prstGeom>
        </p:spPr>
      </p:pic>
      <p:pic>
        <p:nvPicPr>
          <p:cNvPr id="17" name="Picture 16"/>
          <p:cNvPicPr/>
          <p:nvPr/>
        </p:nvPicPr>
        <p:blipFill>
          <a:blip r:embed="rId7"/>
          <a:stretch>
            <a:fillRect/>
          </a:stretch>
        </p:blipFill>
        <p:spPr>
          <a:xfrm>
            <a:off x="4782032" y="5175914"/>
            <a:ext cx="4526861" cy="2763944"/>
          </a:xfrm>
          <a:prstGeom prst="rect">
            <a:avLst/>
          </a:prstGeom>
        </p:spPr>
      </p:pic>
    </p:spTree>
    <p:extLst>
      <p:ext uri="{BB962C8B-B14F-4D97-AF65-F5344CB8AC3E}">
        <p14:creationId xmlns:p14="http://schemas.microsoft.com/office/powerpoint/2010/main" val="3005589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97969"/>
            <a:ext cx="7380327" cy="708779"/>
          </a:xfrm>
          <a:prstGeom prst="rect">
            <a:avLst/>
          </a:prstGeom>
          <a:noFill/>
          <a:ln/>
        </p:spPr>
        <p:txBody>
          <a:bodyPr wrap="none" lIns="0" tIns="0" rIns="0" bIns="0" rtlCol="0" anchor="t"/>
          <a:lstStyle/>
          <a:p>
            <a:pPr marL="0" indent="0" algn="l">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Functional Requirements</a:t>
            </a:r>
            <a:endParaRPr lang="en-US" sz="4450" dirty="0"/>
          </a:p>
        </p:txBody>
      </p:sp>
      <p:sp>
        <p:nvSpPr>
          <p:cNvPr id="3" name="Shape 1"/>
          <p:cNvSpPr/>
          <p:nvPr/>
        </p:nvSpPr>
        <p:spPr>
          <a:xfrm>
            <a:off x="793790" y="2060377"/>
            <a:ext cx="13042821" cy="5271135"/>
          </a:xfrm>
          <a:prstGeom prst="roundRect">
            <a:avLst>
              <a:gd name="adj" fmla="val 1807"/>
            </a:avLst>
          </a:prstGeom>
          <a:noFill/>
          <a:ln w="7620">
            <a:solidFill>
              <a:srgbClr val="000000">
                <a:alpha val="8000"/>
              </a:srgbClr>
            </a:solidFill>
            <a:prstDash val="solid"/>
          </a:ln>
        </p:spPr>
      </p:sp>
      <p:sp>
        <p:nvSpPr>
          <p:cNvPr id="4" name="Text 2"/>
          <p:cNvSpPr/>
          <p:nvPr/>
        </p:nvSpPr>
        <p:spPr>
          <a:xfrm>
            <a:off x="1028462" y="2211705"/>
            <a:ext cx="1496616"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ID</a:t>
            </a:r>
            <a:endParaRPr lang="en-US" sz="1750" dirty="0"/>
          </a:p>
        </p:txBody>
      </p:sp>
      <p:sp>
        <p:nvSpPr>
          <p:cNvPr id="5" name="Text 3"/>
          <p:cNvSpPr/>
          <p:nvPr/>
        </p:nvSpPr>
        <p:spPr>
          <a:xfrm>
            <a:off x="2986326" y="2211705"/>
            <a:ext cx="2795588"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Feature</a:t>
            </a:r>
            <a:endParaRPr lang="en-US" sz="1750" dirty="0"/>
          </a:p>
        </p:txBody>
      </p:sp>
      <p:sp>
        <p:nvSpPr>
          <p:cNvPr id="6" name="Text 4"/>
          <p:cNvSpPr/>
          <p:nvPr/>
        </p:nvSpPr>
        <p:spPr>
          <a:xfrm>
            <a:off x="6243161" y="2211705"/>
            <a:ext cx="5401151"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Description</a:t>
            </a:r>
            <a:endParaRPr lang="en-US" sz="1750" dirty="0"/>
          </a:p>
        </p:txBody>
      </p:sp>
      <p:sp>
        <p:nvSpPr>
          <p:cNvPr id="7" name="Text 5"/>
          <p:cNvSpPr/>
          <p:nvPr/>
        </p:nvSpPr>
        <p:spPr>
          <a:xfrm>
            <a:off x="12105561" y="2211705"/>
            <a:ext cx="1496616"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Status</a:t>
            </a:r>
            <a:endParaRPr lang="en-US" sz="1750" dirty="0"/>
          </a:p>
        </p:txBody>
      </p:sp>
      <p:sp>
        <p:nvSpPr>
          <p:cNvPr id="8" name="Text 6"/>
          <p:cNvSpPr/>
          <p:nvPr/>
        </p:nvSpPr>
        <p:spPr>
          <a:xfrm>
            <a:off x="1028462" y="2869644"/>
            <a:ext cx="149661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FR-1</a:t>
            </a:r>
            <a:endParaRPr lang="en-US" sz="1750" dirty="0"/>
          </a:p>
        </p:txBody>
      </p:sp>
      <p:sp>
        <p:nvSpPr>
          <p:cNvPr id="9" name="Text 7"/>
          <p:cNvSpPr/>
          <p:nvPr/>
        </p:nvSpPr>
        <p:spPr>
          <a:xfrm>
            <a:off x="2986326" y="2869644"/>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Registration</a:t>
            </a:r>
            <a:endParaRPr lang="en-US" sz="1750" dirty="0"/>
          </a:p>
        </p:txBody>
      </p:sp>
      <p:sp>
        <p:nvSpPr>
          <p:cNvPr id="10" name="Text 8"/>
          <p:cNvSpPr/>
          <p:nvPr/>
        </p:nvSpPr>
        <p:spPr>
          <a:xfrm>
            <a:off x="6243161" y="2869644"/>
            <a:ext cx="5401151"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Create user account</a:t>
            </a:r>
            <a:endParaRPr lang="en-US" sz="1750" dirty="0"/>
          </a:p>
        </p:txBody>
      </p:sp>
      <p:sp>
        <p:nvSpPr>
          <p:cNvPr id="11" name="Text 9"/>
          <p:cNvSpPr/>
          <p:nvPr/>
        </p:nvSpPr>
        <p:spPr>
          <a:xfrm>
            <a:off x="12105561" y="2869644"/>
            <a:ext cx="1496616"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DM Sans" pitchFamily="34" charset="0"/>
                <a:ea typeface="DM Sans" pitchFamily="34" charset="-122"/>
                <a:cs typeface="DM Sans" pitchFamily="34" charset="-120"/>
              </a:rPr>
              <a:t>✔</a:t>
            </a:r>
            <a:r>
              <a:rPr lang="en-US" sz="1750" dirty="0">
                <a:solidFill>
                  <a:srgbClr val="454240"/>
                </a:solidFill>
                <a:latin typeface="DM Sans" pitchFamily="34" charset="0"/>
                <a:ea typeface="DM Sans" pitchFamily="34" charset="-122"/>
                <a:cs typeface="DM Sans" pitchFamily="34" charset="-120"/>
              </a:rPr>
              <a:t> Done</a:t>
            </a:r>
            <a:endParaRPr lang="en-US" sz="1750" dirty="0"/>
          </a:p>
        </p:txBody>
      </p:sp>
      <p:sp>
        <p:nvSpPr>
          <p:cNvPr id="12" name="Text 10"/>
          <p:cNvSpPr/>
          <p:nvPr/>
        </p:nvSpPr>
        <p:spPr>
          <a:xfrm>
            <a:off x="1028462" y="3527584"/>
            <a:ext cx="149661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FR-2</a:t>
            </a:r>
            <a:endParaRPr lang="en-US" sz="1750" dirty="0"/>
          </a:p>
        </p:txBody>
      </p:sp>
      <p:sp>
        <p:nvSpPr>
          <p:cNvPr id="13" name="Text 11"/>
          <p:cNvSpPr/>
          <p:nvPr/>
        </p:nvSpPr>
        <p:spPr>
          <a:xfrm>
            <a:off x="2986326" y="3527584"/>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Login</a:t>
            </a:r>
            <a:endParaRPr lang="en-US" sz="1750" dirty="0"/>
          </a:p>
        </p:txBody>
      </p:sp>
      <p:sp>
        <p:nvSpPr>
          <p:cNvPr id="14" name="Text 12"/>
          <p:cNvSpPr/>
          <p:nvPr/>
        </p:nvSpPr>
        <p:spPr>
          <a:xfrm>
            <a:off x="6243161" y="3527584"/>
            <a:ext cx="5401151"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Authenticate user via session</a:t>
            </a:r>
            <a:endParaRPr lang="en-US" sz="1750" dirty="0"/>
          </a:p>
        </p:txBody>
      </p:sp>
      <p:sp>
        <p:nvSpPr>
          <p:cNvPr id="15" name="Text 13"/>
          <p:cNvSpPr/>
          <p:nvPr/>
        </p:nvSpPr>
        <p:spPr>
          <a:xfrm>
            <a:off x="12105561" y="3527584"/>
            <a:ext cx="1496616"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DM Sans" pitchFamily="34" charset="0"/>
                <a:ea typeface="DM Sans" pitchFamily="34" charset="-122"/>
                <a:cs typeface="DM Sans" pitchFamily="34" charset="-120"/>
              </a:rPr>
              <a:t>✔</a:t>
            </a:r>
            <a:r>
              <a:rPr lang="en-US" sz="1750" dirty="0">
                <a:solidFill>
                  <a:srgbClr val="454240"/>
                </a:solidFill>
                <a:latin typeface="DM Sans" pitchFamily="34" charset="0"/>
                <a:ea typeface="DM Sans" pitchFamily="34" charset="-122"/>
                <a:cs typeface="DM Sans" pitchFamily="34" charset="-120"/>
              </a:rPr>
              <a:t> Done</a:t>
            </a:r>
            <a:endParaRPr lang="en-US" sz="1750" dirty="0"/>
          </a:p>
        </p:txBody>
      </p:sp>
      <p:sp>
        <p:nvSpPr>
          <p:cNvPr id="16" name="Text 14"/>
          <p:cNvSpPr/>
          <p:nvPr/>
        </p:nvSpPr>
        <p:spPr>
          <a:xfrm>
            <a:off x="1028462" y="4185523"/>
            <a:ext cx="149661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FR-3</a:t>
            </a:r>
            <a:endParaRPr lang="en-US" sz="1750" dirty="0"/>
          </a:p>
        </p:txBody>
      </p:sp>
      <p:sp>
        <p:nvSpPr>
          <p:cNvPr id="17" name="Text 15"/>
          <p:cNvSpPr/>
          <p:nvPr/>
        </p:nvSpPr>
        <p:spPr>
          <a:xfrm>
            <a:off x="2986326" y="4185523"/>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Product Listing</a:t>
            </a:r>
            <a:endParaRPr lang="en-US" sz="1750" dirty="0"/>
          </a:p>
        </p:txBody>
      </p:sp>
      <p:sp>
        <p:nvSpPr>
          <p:cNvPr id="18" name="Text 16"/>
          <p:cNvSpPr/>
          <p:nvPr/>
        </p:nvSpPr>
        <p:spPr>
          <a:xfrm>
            <a:off x="6243161" y="4185523"/>
            <a:ext cx="5401151"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Display all products</a:t>
            </a:r>
            <a:endParaRPr lang="en-US" sz="1750" dirty="0"/>
          </a:p>
        </p:txBody>
      </p:sp>
      <p:sp>
        <p:nvSpPr>
          <p:cNvPr id="19" name="Text 17"/>
          <p:cNvSpPr/>
          <p:nvPr/>
        </p:nvSpPr>
        <p:spPr>
          <a:xfrm>
            <a:off x="12105561" y="4185523"/>
            <a:ext cx="1496616"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DM Sans" pitchFamily="34" charset="0"/>
                <a:ea typeface="DM Sans" pitchFamily="34" charset="-122"/>
                <a:cs typeface="DM Sans" pitchFamily="34" charset="-120"/>
              </a:rPr>
              <a:t>✔</a:t>
            </a:r>
            <a:r>
              <a:rPr lang="en-US" sz="1750" dirty="0">
                <a:solidFill>
                  <a:srgbClr val="454240"/>
                </a:solidFill>
                <a:latin typeface="DM Sans" pitchFamily="34" charset="0"/>
                <a:ea typeface="DM Sans" pitchFamily="34" charset="-122"/>
                <a:cs typeface="DM Sans" pitchFamily="34" charset="-120"/>
              </a:rPr>
              <a:t> Done</a:t>
            </a:r>
            <a:endParaRPr lang="en-US" sz="1750" dirty="0"/>
          </a:p>
        </p:txBody>
      </p:sp>
      <p:sp>
        <p:nvSpPr>
          <p:cNvPr id="20" name="Text 18"/>
          <p:cNvSpPr/>
          <p:nvPr/>
        </p:nvSpPr>
        <p:spPr>
          <a:xfrm>
            <a:off x="1028462" y="4843463"/>
            <a:ext cx="149661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FR-5</a:t>
            </a:r>
            <a:endParaRPr lang="en-US" sz="1750" dirty="0"/>
          </a:p>
        </p:txBody>
      </p:sp>
      <p:sp>
        <p:nvSpPr>
          <p:cNvPr id="21" name="Text 19"/>
          <p:cNvSpPr/>
          <p:nvPr/>
        </p:nvSpPr>
        <p:spPr>
          <a:xfrm>
            <a:off x="2986326" y="4843463"/>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Add to Cart</a:t>
            </a:r>
            <a:endParaRPr lang="en-US" sz="1750" dirty="0"/>
          </a:p>
        </p:txBody>
      </p:sp>
      <p:sp>
        <p:nvSpPr>
          <p:cNvPr id="22" name="Text 20"/>
          <p:cNvSpPr/>
          <p:nvPr/>
        </p:nvSpPr>
        <p:spPr>
          <a:xfrm>
            <a:off x="6243161" y="4843463"/>
            <a:ext cx="5401151"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Store selected items in cart</a:t>
            </a:r>
            <a:endParaRPr lang="en-US" sz="1750" dirty="0"/>
          </a:p>
        </p:txBody>
      </p:sp>
      <p:sp>
        <p:nvSpPr>
          <p:cNvPr id="23" name="Text 21"/>
          <p:cNvSpPr/>
          <p:nvPr/>
        </p:nvSpPr>
        <p:spPr>
          <a:xfrm>
            <a:off x="12105561" y="4843463"/>
            <a:ext cx="1496616"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DM Sans" pitchFamily="34" charset="0"/>
                <a:ea typeface="DM Sans" pitchFamily="34" charset="-122"/>
                <a:cs typeface="DM Sans" pitchFamily="34" charset="-120"/>
              </a:rPr>
              <a:t>✔</a:t>
            </a:r>
            <a:r>
              <a:rPr lang="en-US" sz="1750" dirty="0">
                <a:solidFill>
                  <a:srgbClr val="454240"/>
                </a:solidFill>
                <a:latin typeface="DM Sans" pitchFamily="34" charset="0"/>
                <a:ea typeface="DM Sans" pitchFamily="34" charset="-122"/>
                <a:cs typeface="DM Sans" pitchFamily="34" charset="-120"/>
              </a:rPr>
              <a:t> Done</a:t>
            </a:r>
            <a:endParaRPr lang="en-US" sz="1750" dirty="0"/>
          </a:p>
        </p:txBody>
      </p:sp>
      <p:sp>
        <p:nvSpPr>
          <p:cNvPr id="24" name="Text 22"/>
          <p:cNvSpPr/>
          <p:nvPr/>
        </p:nvSpPr>
        <p:spPr>
          <a:xfrm>
            <a:off x="1028462" y="5501402"/>
            <a:ext cx="149661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FR-7</a:t>
            </a:r>
            <a:endParaRPr lang="en-US" sz="1750" dirty="0"/>
          </a:p>
        </p:txBody>
      </p:sp>
      <p:sp>
        <p:nvSpPr>
          <p:cNvPr id="25" name="Text 23"/>
          <p:cNvSpPr/>
          <p:nvPr/>
        </p:nvSpPr>
        <p:spPr>
          <a:xfrm>
            <a:off x="2986326" y="5501402"/>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Checkout</a:t>
            </a:r>
            <a:endParaRPr lang="en-US" sz="1750" dirty="0"/>
          </a:p>
        </p:txBody>
      </p:sp>
      <p:sp>
        <p:nvSpPr>
          <p:cNvPr id="26" name="Text 24"/>
          <p:cNvSpPr/>
          <p:nvPr/>
        </p:nvSpPr>
        <p:spPr>
          <a:xfrm>
            <a:off x="6243161" y="5501402"/>
            <a:ext cx="5401151"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Confirm and place order</a:t>
            </a:r>
            <a:endParaRPr lang="en-US" sz="1750" dirty="0"/>
          </a:p>
        </p:txBody>
      </p:sp>
      <p:sp>
        <p:nvSpPr>
          <p:cNvPr id="27" name="Text 25"/>
          <p:cNvSpPr/>
          <p:nvPr/>
        </p:nvSpPr>
        <p:spPr>
          <a:xfrm>
            <a:off x="12105561" y="5501402"/>
            <a:ext cx="1496616"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DM Sans" pitchFamily="34" charset="0"/>
                <a:ea typeface="DM Sans" pitchFamily="34" charset="-122"/>
                <a:cs typeface="DM Sans" pitchFamily="34" charset="-120"/>
              </a:rPr>
              <a:t>✔</a:t>
            </a:r>
            <a:r>
              <a:rPr lang="en-US" sz="1750" dirty="0">
                <a:solidFill>
                  <a:srgbClr val="454240"/>
                </a:solidFill>
                <a:latin typeface="DM Sans" pitchFamily="34" charset="0"/>
                <a:ea typeface="DM Sans" pitchFamily="34" charset="-122"/>
                <a:cs typeface="DM Sans" pitchFamily="34" charset="-120"/>
              </a:rPr>
              <a:t> Done</a:t>
            </a:r>
            <a:endParaRPr lang="en-US" sz="1750" dirty="0"/>
          </a:p>
        </p:txBody>
      </p:sp>
      <p:sp>
        <p:nvSpPr>
          <p:cNvPr id="28" name="Text 26"/>
          <p:cNvSpPr/>
          <p:nvPr/>
        </p:nvSpPr>
        <p:spPr>
          <a:xfrm>
            <a:off x="1028462" y="6159341"/>
            <a:ext cx="149661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FR-8</a:t>
            </a:r>
            <a:endParaRPr lang="en-US" sz="1750" dirty="0"/>
          </a:p>
        </p:txBody>
      </p:sp>
      <p:sp>
        <p:nvSpPr>
          <p:cNvPr id="29" name="Text 27"/>
          <p:cNvSpPr/>
          <p:nvPr/>
        </p:nvSpPr>
        <p:spPr>
          <a:xfrm>
            <a:off x="2986326" y="6159341"/>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Order History</a:t>
            </a:r>
            <a:endParaRPr lang="en-US" sz="1750" dirty="0"/>
          </a:p>
        </p:txBody>
      </p:sp>
      <p:sp>
        <p:nvSpPr>
          <p:cNvPr id="30" name="Text 28"/>
          <p:cNvSpPr/>
          <p:nvPr/>
        </p:nvSpPr>
        <p:spPr>
          <a:xfrm>
            <a:off x="6243161" y="6159341"/>
            <a:ext cx="5401151"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View past orders</a:t>
            </a:r>
            <a:endParaRPr lang="en-US" sz="1750" dirty="0"/>
          </a:p>
        </p:txBody>
      </p:sp>
      <p:sp>
        <p:nvSpPr>
          <p:cNvPr id="31" name="Text 29"/>
          <p:cNvSpPr/>
          <p:nvPr/>
        </p:nvSpPr>
        <p:spPr>
          <a:xfrm>
            <a:off x="12105561" y="6159341"/>
            <a:ext cx="1496616"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DM Sans" pitchFamily="34" charset="0"/>
                <a:ea typeface="DM Sans" pitchFamily="34" charset="-122"/>
                <a:cs typeface="DM Sans" pitchFamily="34" charset="-120"/>
              </a:rPr>
              <a:t>⚠</a:t>
            </a:r>
            <a:r>
              <a:rPr lang="en-US" sz="1750" dirty="0">
                <a:solidFill>
                  <a:srgbClr val="454240"/>
                </a:solidFill>
                <a:latin typeface="DM Sans" pitchFamily="34" charset="0"/>
                <a:ea typeface="DM Sans" pitchFamily="34" charset="-122"/>
                <a:cs typeface="DM Sans" pitchFamily="34" charset="-120"/>
              </a:rPr>
              <a:t> Partial</a:t>
            </a:r>
            <a:endParaRPr lang="en-US" sz="1750" dirty="0"/>
          </a:p>
        </p:txBody>
      </p:sp>
      <p:sp>
        <p:nvSpPr>
          <p:cNvPr id="32" name="Text 30"/>
          <p:cNvSpPr/>
          <p:nvPr/>
        </p:nvSpPr>
        <p:spPr>
          <a:xfrm>
            <a:off x="1028462" y="6817281"/>
            <a:ext cx="149661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FR-9</a:t>
            </a:r>
            <a:endParaRPr lang="en-US" sz="1750" dirty="0"/>
          </a:p>
        </p:txBody>
      </p:sp>
      <p:sp>
        <p:nvSpPr>
          <p:cNvPr id="33" name="Text 31"/>
          <p:cNvSpPr/>
          <p:nvPr/>
        </p:nvSpPr>
        <p:spPr>
          <a:xfrm>
            <a:off x="2986326" y="6817281"/>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Admin Panel</a:t>
            </a:r>
            <a:endParaRPr lang="en-US" sz="1750" dirty="0"/>
          </a:p>
        </p:txBody>
      </p:sp>
      <p:sp>
        <p:nvSpPr>
          <p:cNvPr id="34" name="Text 32"/>
          <p:cNvSpPr/>
          <p:nvPr/>
        </p:nvSpPr>
        <p:spPr>
          <a:xfrm>
            <a:off x="6243161" y="6817281"/>
            <a:ext cx="5401151"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Manage system data</a:t>
            </a:r>
            <a:endParaRPr lang="en-US" sz="1750" dirty="0"/>
          </a:p>
        </p:txBody>
      </p:sp>
      <p:sp>
        <p:nvSpPr>
          <p:cNvPr id="35" name="Text 33"/>
          <p:cNvSpPr/>
          <p:nvPr/>
        </p:nvSpPr>
        <p:spPr>
          <a:xfrm>
            <a:off x="12105561" y="6817281"/>
            <a:ext cx="1496616"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DM Sans" pitchFamily="34" charset="0"/>
                <a:ea typeface="DM Sans" pitchFamily="34" charset="-122"/>
                <a:cs typeface="DM Sans" pitchFamily="34" charset="-120"/>
              </a:rPr>
              <a:t>✔</a:t>
            </a:r>
            <a:r>
              <a:rPr lang="en-US" sz="1750" dirty="0">
                <a:solidFill>
                  <a:srgbClr val="454240"/>
                </a:solidFill>
                <a:latin typeface="DM Sans" pitchFamily="34" charset="0"/>
                <a:ea typeface="DM Sans" pitchFamily="34" charset="-122"/>
                <a:cs typeface="DM Sans" pitchFamily="34" charset="-120"/>
              </a:rPr>
              <a:t> Done</a:t>
            </a:r>
            <a:endParaRPr lang="en-US" sz="1750" dirty="0"/>
          </a:p>
        </p:txBody>
      </p:sp>
      <p:sp>
        <p:nvSpPr>
          <p:cNvPr id="36" name="TextBox 35"/>
          <p:cNvSpPr txBox="1"/>
          <p:nvPr/>
        </p:nvSpPr>
        <p:spPr>
          <a:xfrm>
            <a:off x="12379569" y="7656844"/>
            <a:ext cx="2250831" cy="49317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55" y="269526"/>
            <a:ext cx="14499771" cy="757259"/>
          </a:xfrm>
          <a:prstGeom prst="rect">
            <a:avLst/>
          </a:prstGeom>
        </p:spPr>
        <p:txBody>
          <a:bodyPr wrap="square">
            <a:spAutoFit/>
          </a:bodyPr>
          <a:lstStyle/>
          <a:p>
            <a:pPr algn="ctr">
              <a:lnSpc>
                <a:spcPct val="115000"/>
              </a:lnSpc>
              <a:spcAft>
                <a:spcPts val="800"/>
              </a:spcAft>
            </a:pPr>
            <a:r>
              <a:rPr lang="en-US" sz="4000" b="1" kern="100" dirty="0">
                <a:latin typeface="Libre Baskerville" panose="020B0604020202020204" charset="0"/>
                <a:ea typeface="Aptos"/>
                <a:cs typeface="Times New Roman" panose="02020603050405020304" pitchFamily="18" charset="0"/>
              </a:rPr>
              <a:t>System Modeling</a:t>
            </a:r>
            <a:endParaRPr lang="en-US" sz="4000" kern="100" dirty="0">
              <a:latin typeface="Libre Baskerville" panose="020B0604020202020204" charset="0"/>
              <a:ea typeface="Aptos"/>
              <a:cs typeface="Times New Roman" panose="02020603050405020304" pitchFamily="18" charset="0"/>
            </a:endParaRPr>
          </a:p>
        </p:txBody>
      </p:sp>
      <p:sp>
        <p:nvSpPr>
          <p:cNvPr id="3" name="Rectangle 2"/>
          <p:cNvSpPr/>
          <p:nvPr/>
        </p:nvSpPr>
        <p:spPr>
          <a:xfrm>
            <a:off x="355601" y="1508940"/>
            <a:ext cx="7315200" cy="461665"/>
          </a:xfrm>
          <a:prstGeom prst="rect">
            <a:avLst/>
          </a:prstGeom>
        </p:spPr>
        <p:txBody>
          <a:bodyPr>
            <a:spAutoFit/>
          </a:bodyPr>
          <a:lstStyle/>
          <a:p>
            <a:r>
              <a:rPr lang="en-US" sz="2400" b="1" dirty="0">
                <a:latin typeface="Aptos"/>
                <a:ea typeface="Aptos"/>
                <a:cs typeface="Times New Roman" panose="02020603050405020304" pitchFamily="18" charset="0"/>
              </a:rPr>
              <a:t> Use-Case  Diagram:</a:t>
            </a:r>
            <a:endParaRPr lang="en-US" sz="24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7257141" y="1164289"/>
            <a:ext cx="6117454" cy="6165942"/>
          </a:xfrm>
          <a:prstGeom prst="rect">
            <a:avLst/>
          </a:prstGeom>
          <a:noFill/>
        </p:spPr>
      </p:pic>
      <p:sp>
        <p:nvSpPr>
          <p:cNvPr id="5" name="Rectangle 4"/>
          <p:cNvSpPr/>
          <p:nvPr/>
        </p:nvSpPr>
        <p:spPr>
          <a:xfrm>
            <a:off x="355601" y="2285682"/>
            <a:ext cx="7315200" cy="3785652"/>
          </a:xfrm>
          <a:prstGeom prst="rect">
            <a:avLst/>
          </a:prstGeom>
        </p:spPr>
        <p:txBody>
          <a:bodyPr>
            <a:spAutoFit/>
          </a:bodyPr>
          <a:lstStyle/>
          <a:p>
            <a:pPr marL="342900" indent="-342900">
              <a:buFont typeface="Wingdings" panose="05000000000000000000" pitchFamily="2" charset="2"/>
              <a:buChar char="Ø"/>
            </a:pPr>
            <a:r>
              <a:rPr lang="en-US" sz="2400" dirty="0"/>
              <a:t>The diagram represents a UML Use Case Diagram for an Online Shopping System, focusing on customer support activities. It includes two main actors: Registered User and Support Person.</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The Registered User can perform actions such as Contact Support, Submit Details, View Inquiry History, and Submit Feedback. The Support Person is responsible for Viewing Submitted Details, Resolving Inquiries, and Viewing Feedback</a:t>
            </a:r>
          </a:p>
        </p:txBody>
      </p:sp>
    </p:spTree>
    <p:extLst>
      <p:ext uri="{BB962C8B-B14F-4D97-AF65-F5344CB8AC3E}">
        <p14:creationId xmlns:p14="http://schemas.microsoft.com/office/powerpoint/2010/main" val="4196884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0" descr="preencoded.png"/>
          <p:cNvPicPr>
            <a:picLocks noChangeAspect="1"/>
          </p:cNvPicPr>
          <p:nvPr/>
        </p:nvPicPr>
        <p:blipFill rotWithShape="1">
          <a:blip r:embed="rId2"/>
          <a:srcRect t="25366"/>
          <a:stretch/>
        </p:blipFill>
        <p:spPr>
          <a:xfrm>
            <a:off x="246575" y="1426341"/>
            <a:ext cx="7898004" cy="5435022"/>
          </a:xfrm>
          <a:prstGeom prst="rect">
            <a:avLst/>
          </a:prstGeom>
        </p:spPr>
      </p:pic>
      <p:pic>
        <p:nvPicPr>
          <p:cNvPr id="1028" name="Picture 4" descr="How to do market analysis – Featur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4579" y="0"/>
            <a:ext cx="6485821" cy="82296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txBox="1">
            <a:spLocks/>
          </p:cNvSpPr>
          <p:nvPr/>
        </p:nvSpPr>
        <p:spPr>
          <a:xfrm>
            <a:off x="-3602334" y="449975"/>
            <a:ext cx="141732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latin typeface="Libre Baskerville" panose="020B0604020202020204" charset="0"/>
              </a:rPr>
              <a:t>Marketing Analysis</a:t>
            </a:r>
          </a:p>
        </p:txBody>
      </p:sp>
      <p:sp>
        <p:nvSpPr>
          <p:cNvPr id="4" name="TextBox 3"/>
          <p:cNvSpPr txBox="1"/>
          <p:nvPr/>
        </p:nvSpPr>
        <p:spPr>
          <a:xfrm>
            <a:off x="407920" y="3837871"/>
            <a:ext cx="6358640" cy="677108"/>
          </a:xfrm>
          <a:prstGeom prst="rect">
            <a:avLst/>
          </a:prstGeom>
          <a:noFill/>
        </p:spPr>
        <p:txBody>
          <a:bodyPr wrap="square" rtlCol="0">
            <a:spAutoFit/>
          </a:bodyPr>
          <a:lstStyle/>
          <a:p>
            <a:r>
              <a:rPr lang="en-US" sz="2000" b="1" dirty="0">
                <a:latin typeface="Libre Baskerville" panose="020B0604020202020204" charset="0"/>
              </a:rPr>
              <a:t>Channels:</a:t>
            </a:r>
            <a:r>
              <a:rPr lang="en-US" sz="2000" dirty="0">
                <a:latin typeface="Libre Baskerville" panose="020B0604020202020204" charset="0"/>
              </a:rPr>
              <a:t> Social media, SEO, email marketing</a:t>
            </a:r>
          </a:p>
          <a:p>
            <a:endParaRPr lang="en-US" dirty="0"/>
          </a:p>
        </p:txBody>
      </p:sp>
      <p:sp>
        <p:nvSpPr>
          <p:cNvPr id="8" name="TextBox 7"/>
          <p:cNvSpPr txBox="1"/>
          <p:nvPr/>
        </p:nvSpPr>
        <p:spPr>
          <a:xfrm>
            <a:off x="407920" y="1971008"/>
            <a:ext cx="6222900" cy="984885"/>
          </a:xfrm>
          <a:prstGeom prst="rect">
            <a:avLst/>
          </a:prstGeom>
          <a:noFill/>
        </p:spPr>
        <p:txBody>
          <a:bodyPr wrap="square" rtlCol="0">
            <a:spAutoFit/>
          </a:bodyPr>
          <a:lstStyle/>
          <a:p>
            <a:r>
              <a:rPr lang="en-US" sz="2000" b="1" dirty="0">
                <a:latin typeface="Libre Baskerville" panose="020B0604020202020204" charset="0"/>
              </a:rPr>
              <a:t>Target Audience: </a:t>
            </a:r>
            <a:r>
              <a:rPr lang="en-US" sz="2000" dirty="0">
                <a:latin typeface="Libre Baskerville" panose="020B0604020202020204" charset="0"/>
              </a:rPr>
              <a:t>Online users, students, busy professionals</a:t>
            </a:r>
          </a:p>
          <a:p>
            <a:endParaRPr lang="en-US" dirty="0"/>
          </a:p>
        </p:txBody>
      </p:sp>
      <p:sp>
        <p:nvSpPr>
          <p:cNvPr id="9" name="TextBox 8"/>
          <p:cNvSpPr txBox="1"/>
          <p:nvPr/>
        </p:nvSpPr>
        <p:spPr>
          <a:xfrm>
            <a:off x="381100" y="5385158"/>
            <a:ext cx="7655460" cy="677108"/>
          </a:xfrm>
          <a:prstGeom prst="rect">
            <a:avLst/>
          </a:prstGeom>
          <a:noFill/>
        </p:spPr>
        <p:txBody>
          <a:bodyPr wrap="square" rtlCol="0">
            <a:spAutoFit/>
          </a:bodyPr>
          <a:lstStyle/>
          <a:p>
            <a:r>
              <a:rPr lang="en-US" sz="2000" b="1" dirty="0">
                <a:latin typeface="Libre Baskerville" panose="020B0604020202020204" charset="0"/>
              </a:rPr>
              <a:t>Strategy:</a:t>
            </a:r>
            <a:r>
              <a:rPr lang="en-US" sz="2000" dirty="0">
                <a:latin typeface="Libre Baskerville" panose="020B0604020202020204" charset="0"/>
              </a:rPr>
              <a:t> User-friendly design, fast access, </a:t>
            </a:r>
            <a:r>
              <a:rPr lang="en-US" sz="2000" dirty="0">
                <a:latin typeface="Libre Baskerville" panose="02000000000000000000" pitchFamily="2" charset="0"/>
              </a:rPr>
              <a:t>comfortable</a:t>
            </a:r>
          </a:p>
          <a:p>
            <a:endParaRPr lang="en-US" dirty="0"/>
          </a:p>
        </p:txBody>
      </p:sp>
    </p:spTree>
    <p:extLst>
      <p:ext uri="{BB962C8B-B14F-4D97-AF65-F5344CB8AC3E}">
        <p14:creationId xmlns:p14="http://schemas.microsoft.com/office/powerpoint/2010/main" val="432841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4630400" cy="8229599"/>
          </a:xfrm>
          <a:prstGeom prst="rect">
            <a:avLst/>
          </a:prstGeom>
        </p:spPr>
      </p:pic>
      <p:sp>
        <p:nvSpPr>
          <p:cNvPr id="6" name="TextBox 5"/>
          <p:cNvSpPr txBox="1"/>
          <p:nvPr/>
        </p:nvSpPr>
        <p:spPr>
          <a:xfrm>
            <a:off x="217715" y="130627"/>
            <a:ext cx="13977256" cy="1384995"/>
          </a:xfrm>
          <a:prstGeom prst="rect">
            <a:avLst/>
          </a:prstGeom>
          <a:solidFill>
            <a:schemeClr val="bg1">
              <a:lumMod val="95000"/>
            </a:schemeClr>
          </a:solidFill>
        </p:spPr>
        <p:txBody>
          <a:bodyPr wrap="square" rtlCol="0">
            <a:spAutoFit/>
          </a:bodyPr>
          <a:lstStyle/>
          <a:p>
            <a:pPr algn="ctr"/>
            <a:r>
              <a:rPr lang="en-US" sz="4000" dirty="0">
                <a:latin typeface="Libre Baskerville" panose="020B0604020202020204" charset="0"/>
              </a:rPr>
              <a:t>Revenue Model</a:t>
            </a:r>
          </a:p>
          <a:p>
            <a:endParaRPr lang="en-US" sz="4400" dirty="0"/>
          </a:p>
        </p:txBody>
      </p:sp>
    </p:spTree>
    <p:extLst>
      <p:ext uri="{BB962C8B-B14F-4D97-AF65-F5344CB8AC3E}">
        <p14:creationId xmlns:p14="http://schemas.microsoft.com/office/powerpoint/2010/main" val="1362405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
          <p:cNvSpPr/>
          <p:nvPr/>
        </p:nvSpPr>
        <p:spPr>
          <a:xfrm>
            <a:off x="0" y="0"/>
            <a:ext cx="14630400" cy="8229600"/>
          </a:xfrm>
          <a:prstGeom prst="roundRect">
            <a:avLst>
              <a:gd name="adj" fmla="val 0"/>
            </a:avLst>
          </a:prstGeom>
          <a:solidFill>
            <a:srgbClr val="FFFDFA"/>
          </a:solidFill>
          <a:ln w="22860">
            <a:solidFill>
              <a:srgbClr val="DDD3BA"/>
            </a:solidFill>
            <a:prstDash val="solid"/>
          </a:ln>
        </p:spPr>
      </p:sp>
      <p:sp>
        <p:nvSpPr>
          <p:cNvPr id="2" name="Title 1"/>
          <p:cNvSpPr txBox="1">
            <a:spLocks/>
          </p:cNvSpPr>
          <p:nvPr/>
        </p:nvSpPr>
        <p:spPr>
          <a:xfrm>
            <a:off x="601841" y="452121"/>
            <a:ext cx="13056102" cy="800536"/>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dirty="0">
                <a:latin typeface="Libre Baskerville" panose="020B0604020202020204" charset="0"/>
              </a:rPr>
              <a:t>Market Needs</a:t>
            </a:r>
          </a:p>
        </p:txBody>
      </p:sp>
      <p:sp>
        <p:nvSpPr>
          <p:cNvPr id="8" name="Shape 2"/>
          <p:cNvSpPr/>
          <p:nvPr/>
        </p:nvSpPr>
        <p:spPr>
          <a:xfrm>
            <a:off x="582930" y="1213247"/>
            <a:ext cx="7978140" cy="1535073"/>
          </a:xfrm>
          <a:prstGeom prst="roundRect">
            <a:avLst>
              <a:gd name="adj" fmla="val 4558"/>
            </a:avLst>
          </a:prstGeom>
          <a:solidFill>
            <a:srgbClr val="F7EDD4"/>
          </a:solidFill>
          <a:ln w="7620">
            <a:solidFill>
              <a:srgbClr val="DDD3BA"/>
            </a:solidFill>
            <a:prstDash val="solid"/>
          </a:ln>
        </p:spPr>
      </p:sp>
      <p:sp>
        <p:nvSpPr>
          <p:cNvPr id="9" name="Shape 3"/>
          <p:cNvSpPr/>
          <p:nvPr/>
        </p:nvSpPr>
        <p:spPr>
          <a:xfrm>
            <a:off x="757118" y="1387435"/>
            <a:ext cx="499705" cy="499705"/>
          </a:xfrm>
          <a:prstGeom prst="roundRect">
            <a:avLst>
              <a:gd name="adj" fmla="val 18296966"/>
            </a:avLst>
          </a:prstGeom>
          <a:solidFill>
            <a:srgbClr val="B88E23"/>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94517" y="1524833"/>
            <a:ext cx="224790" cy="224790"/>
          </a:xfrm>
          <a:prstGeom prst="rect">
            <a:avLst/>
          </a:prstGeom>
        </p:spPr>
      </p:pic>
      <p:sp>
        <p:nvSpPr>
          <p:cNvPr id="11" name="Text 4"/>
          <p:cNvSpPr/>
          <p:nvPr/>
        </p:nvSpPr>
        <p:spPr>
          <a:xfrm>
            <a:off x="1006912" y="1858951"/>
            <a:ext cx="5643682" cy="505422"/>
          </a:xfrm>
          <a:prstGeom prst="rect">
            <a:avLst/>
          </a:prstGeom>
          <a:noFill/>
          <a:ln/>
        </p:spPr>
        <p:txBody>
          <a:bodyPr wrap="none" lIns="0" tIns="0" rIns="0" bIns="0" rtlCol="0" anchor="t"/>
          <a:lstStyle/>
          <a:p>
            <a:r>
              <a:rPr lang="en-US" sz="3200" dirty="0">
                <a:latin typeface="Libre Baskerville" panose="020B0604020202020204" charset="0"/>
              </a:rPr>
              <a:t>Demand for convenience shopping</a:t>
            </a:r>
          </a:p>
        </p:txBody>
      </p:sp>
      <p:sp>
        <p:nvSpPr>
          <p:cNvPr id="12" name="Text 5"/>
          <p:cNvSpPr/>
          <p:nvPr/>
        </p:nvSpPr>
        <p:spPr>
          <a:xfrm>
            <a:off x="757118" y="2343031"/>
            <a:ext cx="7629763" cy="231100"/>
          </a:xfrm>
          <a:prstGeom prst="rect">
            <a:avLst/>
          </a:prstGeom>
          <a:noFill/>
          <a:ln/>
        </p:spPr>
        <p:txBody>
          <a:bodyPr wrap="none" lIns="0" tIns="0" rIns="0" bIns="0" rtlCol="0" anchor="t"/>
          <a:lstStyle/>
          <a:p>
            <a:pPr marL="0" indent="0" algn="l">
              <a:lnSpc>
                <a:spcPts val="1800"/>
              </a:lnSpc>
              <a:buNone/>
            </a:pPr>
            <a:endParaRPr lang="en-US" sz="1300" dirty="0"/>
          </a:p>
        </p:txBody>
      </p:sp>
      <p:sp>
        <p:nvSpPr>
          <p:cNvPr id="13" name="Shape 6"/>
          <p:cNvSpPr/>
          <p:nvPr/>
        </p:nvSpPr>
        <p:spPr>
          <a:xfrm>
            <a:off x="582930" y="2870597"/>
            <a:ext cx="7978140" cy="1535073"/>
          </a:xfrm>
          <a:prstGeom prst="roundRect">
            <a:avLst>
              <a:gd name="adj" fmla="val 4558"/>
            </a:avLst>
          </a:prstGeom>
          <a:solidFill>
            <a:srgbClr val="F7EDD4"/>
          </a:solidFill>
          <a:ln w="7620">
            <a:solidFill>
              <a:srgbClr val="DDD3BA"/>
            </a:solidFill>
            <a:prstDash val="solid"/>
          </a:ln>
        </p:spPr>
      </p:sp>
      <p:sp>
        <p:nvSpPr>
          <p:cNvPr id="14" name="Shape 7"/>
          <p:cNvSpPr/>
          <p:nvPr/>
        </p:nvSpPr>
        <p:spPr>
          <a:xfrm>
            <a:off x="757118" y="3044785"/>
            <a:ext cx="499705" cy="499705"/>
          </a:xfrm>
          <a:prstGeom prst="roundRect">
            <a:avLst>
              <a:gd name="adj" fmla="val 18296966"/>
            </a:avLst>
          </a:prstGeom>
          <a:solidFill>
            <a:srgbClr val="B88E23"/>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4517" y="3182183"/>
            <a:ext cx="224790" cy="224790"/>
          </a:xfrm>
          <a:prstGeom prst="rect">
            <a:avLst/>
          </a:prstGeom>
        </p:spPr>
      </p:pic>
      <p:sp>
        <p:nvSpPr>
          <p:cNvPr id="17" name="Text 9"/>
          <p:cNvSpPr/>
          <p:nvPr/>
        </p:nvSpPr>
        <p:spPr>
          <a:xfrm>
            <a:off x="757118" y="4000381"/>
            <a:ext cx="7629763" cy="231100"/>
          </a:xfrm>
          <a:prstGeom prst="rect">
            <a:avLst/>
          </a:prstGeom>
          <a:noFill/>
          <a:ln/>
        </p:spPr>
        <p:txBody>
          <a:bodyPr wrap="none" lIns="0" tIns="0" rIns="0" bIns="0" rtlCol="0" anchor="t"/>
          <a:lstStyle/>
          <a:p>
            <a:pPr marL="0" indent="0" algn="l">
              <a:lnSpc>
                <a:spcPts val="1800"/>
              </a:lnSpc>
              <a:buNone/>
            </a:pPr>
            <a:endParaRPr lang="en-US" sz="1300" dirty="0"/>
          </a:p>
        </p:txBody>
      </p:sp>
      <p:sp>
        <p:nvSpPr>
          <p:cNvPr id="18" name="Shape 10"/>
          <p:cNvSpPr/>
          <p:nvPr/>
        </p:nvSpPr>
        <p:spPr>
          <a:xfrm>
            <a:off x="582930" y="4527947"/>
            <a:ext cx="7978140" cy="1535073"/>
          </a:xfrm>
          <a:prstGeom prst="roundRect">
            <a:avLst>
              <a:gd name="adj" fmla="val 4558"/>
            </a:avLst>
          </a:prstGeom>
          <a:solidFill>
            <a:srgbClr val="F7EDD4"/>
          </a:solidFill>
          <a:ln w="7620">
            <a:solidFill>
              <a:srgbClr val="DDD3BA"/>
            </a:solidFill>
            <a:prstDash val="solid"/>
          </a:ln>
        </p:spPr>
      </p:sp>
      <p:sp>
        <p:nvSpPr>
          <p:cNvPr id="19" name="Shape 11"/>
          <p:cNvSpPr/>
          <p:nvPr/>
        </p:nvSpPr>
        <p:spPr>
          <a:xfrm>
            <a:off x="757118" y="4702135"/>
            <a:ext cx="499705" cy="499705"/>
          </a:xfrm>
          <a:prstGeom prst="roundRect">
            <a:avLst>
              <a:gd name="adj" fmla="val 18296966"/>
            </a:avLst>
          </a:prstGeom>
          <a:solidFill>
            <a:srgbClr val="B88E23"/>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4517" y="4839533"/>
            <a:ext cx="224790" cy="224790"/>
          </a:xfrm>
          <a:prstGeom prst="rect">
            <a:avLst/>
          </a:prstGeom>
        </p:spPr>
      </p:pic>
      <p:sp>
        <p:nvSpPr>
          <p:cNvPr id="23" name="Shape 14"/>
          <p:cNvSpPr/>
          <p:nvPr/>
        </p:nvSpPr>
        <p:spPr>
          <a:xfrm>
            <a:off x="582930" y="6185297"/>
            <a:ext cx="7978140" cy="1535073"/>
          </a:xfrm>
          <a:prstGeom prst="roundRect">
            <a:avLst>
              <a:gd name="adj" fmla="val 4558"/>
            </a:avLst>
          </a:prstGeom>
          <a:solidFill>
            <a:srgbClr val="F7EDD4"/>
          </a:solidFill>
          <a:ln w="7620">
            <a:solidFill>
              <a:srgbClr val="DDD3BA"/>
            </a:solidFill>
            <a:prstDash val="solid"/>
          </a:ln>
        </p:spPr>
      </p:sp>
      <p:sp>
        <p:nvSpPr>
          <p:cNvPr id="24" name="Shape 15"/>
          <p:cNvSpPr/>
          <p:nvPr/>
        </p:nvSpPr>
        <p:spPr>
          <a:xfrm>
            <a:off x="757118" y="6359485"/>
            <a:ext cx="499705" cy="499705"/>
          </a:xfrm>
          <a:prstGeom prst="roundRect">
            <a:avLst>
              <a:gd name="adj" fmla="val 18296966"/>
            </a:avLst>
          </a:prstGeom>
          <a:solidFill>
            <a:srgbClr val="B88E23"/>
          </a:solidFill>
          <a:ln/>
        </p:spPr>
      </p:sp>
      <p:pic>
        <p:nvPicPr>
          <p:cNvPr id="25"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4517" y="6496883"/>
            <a:ext cx="224790" cy="224790"/>
          </a:xfrm>
          <a:prstGeom prst="rect">
            <a:avLst/>
          </a:prstGeom>
        </p:spPr>
      </p:pic>
      <p:sp>
        <p:nvSpPr>
          <p:cNvPr id="28" name="Text 4"/>
          <p:cNvSpPr/>
          <p:nvPr/>
        </p:nvSpPr>
        <p:spPr>
          <a:xfrm>
            <a:off x="1839753" y="3279108"/>
            <a:ext cx="5643682" cy="505422"/>
          </a:xfrm>
          <a:prstGeom prst="rect">
            <a:avLst/>
          </a:prstGeom>
          <a:noFill/>
          <a:ln/>
        </p:spPr>
        <p:txBody>
          <a:bodyPr wrap="none" lIns="0" tIns="0" rIns="0" bIns="0" rtlCol="0" anchor="t"/>
          <a:lstStyle/>
          <a:p>
            <a:r>
              <a:rPr lang="en-US" sz="3600" dirty="0">
                <a:latin typeface="Libre Baskerville" panose="020B0604020202020204" charset="0"/>
              </a:rPr>
              <a:t>24/7 availability</a:t>
            </a:r>
          </a:p>
        </p:txBody>
      </p:sp>
      <p:sp>
        <p:nvSpPr>
          <p:cNvPr id="29" name="Text 4"/>
          <p:cNvSpPr/>
          <p:nvPr/>
        </p:nvSpPr>
        <p:spPr>
          <a:xfrm>
            <a:off x="1256823" y="5108554"/>
            <a:ext cx="5643682" cy="505422"/>
          </a:xfrm>
          <a:prstGeom prst="rect">
            <a:avLst/>
          </a:prstGeom>
          <a:noFill/>
          <a:ln/>
        </p:spPr>
        <p:txBody>
          <a:bodyPr wrap="none" lIns="0" tIns="0" rIns="0" bIns="0" rtlCol="0" anchor="t"/>
          <a:lstStyle/>
          <a:p>
            <a:r>
              <a:rPr lang="en-US" sz="3600" dirty="0">
                <a:latin typeface="Libre Baskerville" panose="020B0604020202020204" charset="0"/>
              </a:rPr>
              <a:t>Easy product comparison</a:t>
            </a:r>
          </a:p>
        </p:txBody>
      </p:sp>
      <p:sp>
        <p:nvSpPr>
          <p:cNvPr id="30" name="Text 4"/>
          <p:cNvSpPr/>
          <p:nvPr/>
        </p:nvSpPr>
        <p:spPr>
          <a:xfrm>
            <a:off x="1469647" y="6616999"/>
            <a:ext cx="5643682" cy="505422"/>
          </a:xfrm>
          <a:prstGeom prst="rect">
            <a:avLst/>
          </a:prstGeom>
          <a:noFill/>
          <a:ln/>
        </p:spPr>
        <p:txBody>
          <a:bodyPr wrap="none" lIns="0" tIns="0" rIns="0" bIns="0" rtlCol="0" anchor="t"/>
          <a:lstStyle/>
          <a:p>
            <a:r>
              <a:rPr lang="en-US" sz="3600" dirty="0">
                <a:latin typeface="Libre Baskerville" panose="020B0604020202020204" charset="0"/>
              </a:rPr>
              <a:t>Growing e-commerce trend</a:t>
            </a:r>
          </a:p>
        </p:txBody>
      </p:sp>
      <p:pic>
        <p:nvPicPr>
          <p:cNvPr id="31" name="Picture 3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35258" y="1894098"/>
            <a:ext cx="5893776" cy="4291199"/>
          </a:xfrm>
          <a:prstGeom prst="rect">
            <a:avLst/>
          </a:prstGeom>
        </p:spPr>
      </p:pic>
    </p:spTree>
    <p:extLst>
      <p:ext uri="{BB962C8B-B14F-4D97-AF65-F5344CB8AC3E}">
        <p14:creationId xmlns:p14="http://schemas.microsoft.com/office/powerpoint/2010/main" val="3978287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9144000" y="0"/>
            <a:ext cx="5486400" cy="8229600"/>
          </a:xfrm>
          <a:prstGeom prst="rect">
            <a:avLst/>
          </a:prstGeom>
          <a:solidFill>
            <a:srgbClr val="F7EDD4"/>
          </a:solidFill>
          <a:ln/>
        </p:spPr>
      </p:sp>
      <p:pic>
        <p:nvPicPr>
          <p:cNvPr id="3" name="Image 0" descr="preencoded.png"/>
          <p:cNvPicPr>
            <a:picLocks noChangeAspect="1"/>
          </p:cNvPicPr>
          <p:nvPr/>
        </p:nvPicPr>
        <p:blipFill>
          <a:blip r:embed="rId3"/>
          <a:stretch>
            <a:fillRect/>
          </a:stretch>
        </p:blipFill>
        <p:spPr>
          <a:xfrm>
            <a:off x="9241393" y="146090"/>
            <a:ext cx="5291614" cy="7937421"/>
          </a:xfrm>
          <a:prstGeom prst="rect">
            <a:avLst/>
          </a:prstGeom>
        </p:spPr>
      </p:pic>
      <p:sp>
        <p:nvSpPr>
          <p:cNvPr id="4" name="Text 1"/>
          <p:cNvSpPr/>
          <p:nvPr/>
        </p:nvSpPr>
        <p:spPr>
          <a:xfrm>
            <a:off x="682228" y="549235"/>
            <a:ext cx="6715601" cy="609124"/>
          </a:xfrm>
          <a:prstGeom prst="rect">
            <a:avLst/>
          </a:prstGeom>
          <a:noFill/>
          <a:ln/>
        </p:spPr>
        <p:txBody>
          <a:bodyPr wrap="none" lIns="0" tIns="0" rIns="0" bIns="0" rtlCol="0" anchor="t"/>
          <a:lstStyle/>
          <a:p>
            <a:pPr marL="0" indent="0" algn="l">
              <a:lnSpc>
                <a:spcPts val="4750"/>
              </a:lnSpc>
              <a:buNone/>
            </a:pPr>
            <a:r>
              <a:rPr lang="en-US" sz="3800" dirty="0">
                <a:solidFill>
                  <a:srgbClr val="5C4E3D"/>
                </a:solidFill>
                <a:latin typeface="Libre Baskerville" pitchFamily="34" charset="0"/>
                <a:ea typeface="Libre Baskerville" pitchFamily="34" charset="-122"/>
                <a:cs typeface="Libre Baskerville" pitchFamily="34" charset="-120"/>
              </a:rPr>
              <a:t>Conclusion &amp; Future Work</a:t>
            </a:r>
            <a:endParaRPr lang="en-US" sz="3800" dirty="0"/>
          </a:p>
        </p:txBody>
      </p:sp>
      <p:sp>
        <p:nvSpPr>
          <p:cNvPr id="5" name="Text 2"/>
          <p:cNvSpPr/>
          <p:nvPr/>
        </p:nvSpPr>
        <p:spPr>
          <a:xfrm>
            <a:off x="682228" y="1409581"/>
            <a:ext cx="7779544" cy="579834"/>
          </a:xfrm>
          <a:prstGeom prst="rect">
            <a:avLst/>
          </a:prstGeom>
          <a:noFill/>
          <a:ln/>
        </p:spPr>
        <p:txBody>
          <a:bodyPr wrap="square" lIns="0" tIns="0" rIns="0" bIns="0" rtlCol="0" anchor="t"/>
          <a:lstStyle/>
          <a:p>
            <a:pPr>
              <a:lnSpc>
                <a:spcPts val="2250"/>
              </a:lnSpc>
            </a:pPr>
            <a:r>
              <a:rPr lang="en-US" dirty="0"/>
              <a:t>The system successfully provides a </a:t>
            </a:r>
            <a:r>
              <a:rPr lang="en-US" b="1" dirty="0"/>
              <a:t>fast, simple, and accessible online shopping experience</a:t>
            </a:r>
            <a:r>
              <a:rPr lang="en-US" dirty="0"/>
              <a:t>.</a:t>
            </a:r>
          </a:p>
        </p:txBody>
      </p:sp>
      <p:sp>
        <p:nvSpPr>
          <p:cNvPr id="6" name="Shape 3"/>
          <p:cNvSpPr/>
          <p:nvPr/>
        </p:nvSpPr>
        <p:spPr>
          <a:xfrm>
            <a:off x="682228" y="2177772"/>
            <a:ext cx="7779544" cy="1130498"/>
          </a:xfrm>
          <a:prstGeom prst="roundRect">
            <a:avLst>
              <a:gd name="adj" fmla="val 7242"/>
            </a:avLst>
          </a:prstGeom>
          <a:solidFill>
            <a:srgbClr val="FFFDFA"/>
          </a:solidFill>
          <a:ln w="22860">
            <a:solidFill>
              <a:srgbClr val="DDD3BA"/>
            </a:solidFill>
            <a:prstDash val="solid"/>
          </a:ln>
        </p:spPr>
      </p:sp>
      <p:sp>
        <p:nvSpPr>
          <p:cNvPr id="7" name="Text 4"/>
          <p:cNvSpPr/>
          <p:nvPr/>
        </p:nvSpPr>
        <p:spPr>
          <a:xfrm>
            <a:off x="899993" y="2395538"/>
            <a:ext cx="2436614" cy="304562"/>
          </a:xfrm>
          <a:prstGeom prst="rect">
            <a:avLst/>
          </a:prstGeom>
          <a:noFill/>
          <a:ln/>
        </p:spPr>
        <p:txBody>
          <a:bodyPr wrap="none" lIns="0" tIns="0" rIns="0" bIns="0" rtlCol="0" anchor="t"/>
          <a:lstStyle/>
          <a:p>
            <a:pPr marL="0" indent="0" algn="l">
              <a:lnSpc>
                <a:spcPts val="2350"/>
              </a:lnSpc>
              <a:buNone/>
            </a:pPr>
            <a:r>
              <a:rPr lang="en-US" sz="1900" dirty="0">
                <a:solidFill>
                  <a:srgbClr val="000000"/>
                </a:solidFill>
                <a:latin typeface="Libre Baskerville" pitchFamily="34" charset="0"/>
                <a:ea typeface="Libre Baskerville" pitchFamily="34" charset="-122"/>
                <a:cs typeface="Libre Baskerville" pitchFamily="34" charset="-120"/>
              </a:rPr>
              <a:t>💳</a:t>
            </a:r>
            <a:r>
              <a:rPr lang="en-US" sz="1900" dirty="0">
                <a:solidFill>
                  <a:srgbClr val="454240"/>
                </a:solidFill>
                <a:latin typeface="Libre Baskerville" pitchFamily="34" charset="0"/>
                <a:ea typeface="Libre Baskerville" pitchFamily="34" charset="-122"/>
                <a:cs typeface="Libre Baskerville" pitchFamily="34" charset="-120"/>
              </a:rPr>
              <a:t> Online Payment</a:t>
            </a:r>
            <a:endParaRPr lang="en-US" sz="1900" dirty="0"/>
          </a:p>
        </p:txBody>
      </p:sp>
      <p:sp>
        <p:nvSpPr>
          <p:cNvPr id="8" name="Text 5"/>
          <p:cNvSpPr/>
          <p:nvPr/>
        </p:nvSpPr>
        <p:spPr>
          <a:xfrm>
            <a:off x="899993" y="2800588"/>
            <a:ext cx="7344013" cy="289917"/>
          </a:xfrm>
          <a:prstGeom prst="rect">
            <a:avLst/>
          </a:prstGeom>
          <a:noFill/>
          <a:ln/>
        </p:spPr>
        <p:txBody>
          <a:bodyPr wrap="none" lIns="0" tIns="0" rIns="0" bIns="0" rtlCol="0" anchor="t"/>
          <a:lstStyle/>
          <a:p>
            <a:pPr marL="0" indent="0" algn="l">
              <a:lnSpc>
                <a:spcPts val="2250"/>
              </a:lnSpc>
              <a:buNone/>
            </a:pPr>
            <a:r>
              <a:rPr lang="en-US" sz="1500" dirty="0">
                <a:solidFill>
                  <a:srgbClr val="454240"/>
                </a:solidFill>
                <a:latin typeface="DM Sans" pitchFamily="34" charset="0"/>
                <a:ea typeface="DM Sans" pitchFamily="34" charset="-122"/>
                <a:cs typeface="DM Sans" pitchFamily="34" charset="-120"/>
              </a:rPr>
              <a:t>Integrate bKash &amp; Nagad gateways</a:t>
            </a:r>
            <a:endParaRPr lang="en-US" sz="1500" dirty="0"/>
          </a:p>
        </p:txBody>
      </p:sp>
      <p:sp>
        <p:nvSpPr>
          <p:cNvPr id="9" name="Shape 6"/>
          <p:cNvSpPr/>
          <p:nvPr/>
        </p:nvSpPr>
        <p:spPr>
          <a:xfrm>
            <a:off x="682228" y="3475673"/>
            <a:ext cx="7779544" cy="1130498"/>
          </a:xfrm>
          <a:prstGeom prst="roundRect">
            <a:avLst>
              <a:gd name="adj" fmla="val 7242"/>
            </a:avLst>
          </a:prstGeom>
          <a:solidFill>
            <a:srgbClr val="FFFDFA"/>
          </a:solidFill>
          <a:ln w="22860">
            <a:solidFill>
              <a:srgbClr val="DDD3BA"/>
            </a:solidFill>
            <a:prstDash val="solid"/>
          </a:ln>
        </p:spPr>
      </p:sp>
      <p:sp>
        <p:nvSpPr>
          <p:cNvPr id="10" name="Text 7"/>
          <p:cNvSpPr/>
          <p:nvPr/>
        </p:nvSpPr>
        <p:spPr>
          <a:xfrm>
            <a:off x="899993" y="3693438"/>
            <a:ext cx="2436614" cy="304562"/>
          </a:xfrm>
          <a:prstGeom prst="rect">
            <a:avLst/>
          </a:prstGeom>
          <a:noFill/>
          <a:ln/>
        </p:spPr>
        <p:txBody>
          <a:bodyPr wrap="none" lIns="0" tIns="0" rIns="0" bIns="0" rtlCol="0" anchor="t"/>
          <a:lstStyle/>
          <a:p>
            <a:pPr marL="0" indent="0" algn="l">
              <a:lnSpc>
                <a:spcPts val="2350"/>
              </a:lnSpc>
              <a:buNone/>
            </a:pPr>
            <a:r>
              <a:rPr lang="en-US" sz="1900" dirty="0">
                <a:solidFill>
                  <a:srgbClr val="000000"/>
                </a:solidFill>
                <a:latin typeface="Libre Baskerville" pitchFamily="34" charset="0"/>
                <a:ea typeface="Libre Baskerville" pitchFamily="34" charset="-122"/>
                <a:cs typeface="Libre Baskerville" pitchFamily="34" charset="-120"/>
              </a:rPr>
              <a:t>📱</a:t>
            </a:r>
            <a:r>
              <a:rPr lang="en-US" sz="1900" dirty="0">
                <a:solidFill>
                  <a:srgbClr val="454240"/>
                </a:solidFill>
                <a:latin typeface="Libre Baskerville" pitchFamily="34" charset="0"/>
                <a:ea typeface="Libre Baskerville" pitchFamily="34" charset="-122"/>
                <a:cs typeface="Libre Baskerville" pitchFamily="34" charset="-120"/>
              </a:rPr>
              <a:t> Mobile App</a:t>
            </a:r>
            <a:endParaRPr lang="en-US" sz="1900" dirty="0"/>
          </a:p>
        </p:txBody>
      </p:sp>
      <p:sp>
        <p:nvSpPr>
          <p:cNvPr id="11" name="Text 8"/>
          <p:cNvSpPr/>
          <p:nvPr/>
        </p:nvSpPr>
        <p:spPr>
          <a:xfrm>
            <a:off x="899993" y="4098488"/>
            <a:ext cx="7344013" cy="289917"/>
          </a:xfrm>
          <a:prstGeom prst="rect">
            <a:avLst/>
          </a:prstGeom>
          <a:noFill/>
          <a:ln/>
        </p:spPr>
        <p:txBody>
          <a:bodyPr wrap="none" lIns="0" tIns="0" rIns="0" bIns="0" rtlCol="0" anchor="t"/>
          <a:lstStyle/>
          <a:p>
            <a:pPr marL="0" indent="0" algn="l">
              <a:lnSpc>
                <a:spcPts val="2250"/>
              </a:lnSpc>
              <a:buNone/>
            </a:pPr>
            <a:r>
              <a:rPr lang="en-US" sz="1500" dirty="0">
                <a:solidFill>
                  <a:srgbClr val="454240"/>
                </a:solidFill>
                <a:latin typeface="DM Sans" pitchFamily="34" charset="0"/>
                <a:ea typeface="DM Sans" pitchFamily="34" charset="-122"/>
                <a:cs typeface="DM Sans" pitchFamily="34" charset="-120"/>
              </a:rPr>
              <a:t>Native mobile application version</a:t>
            </a:r>
            <a:endParaRPr lang="en-US" sz="1500" dirty="0"/>
          </a:p>
        </p:txBody>
      </p:sp>
      <p:sp>
        <p:nvSpPr>
          <p:cNvPr id="12" name="Shape 9"/>
          <p:cNvSpPr/>
          <p:nvPr/>
        </p:nvSpPr>
        <p:spPr>
          <a:xfrm>
            <a:off x="682228" y="4773573"/>
            <a:ext cx="7779544" cy="1130498"/>
          </a:xfrm>
          <a:prstGeom prst="roundRect">
            <a:avLst>
              <a:gd name="adj" fmla="val 7242"/>
            </a:avLst>
          </a:prstGeom>
          <a:solidFill>
            <a:srgbClr val="FFFDFA"/>
          </a:solidFill>
          <a:ln w="22860">
            <a:solidFill>
              <a:srgbClr val="DDD3BA"/>
            </a:solidFill>
            <a:prstDash val="solid"/>
          </a:ln>
        </p:spPr>
      </p:sp>
      <p:sp>
        <p:nvSpPr>
          <p:cNvPr id="13" name="Text 10"/>
          <p:cNvSpPr/>
          <p:nvPr/>
        </p:nvSpPr>
        <p:spPr>
          <a:xfrm>
            <a:off x="899993" y="4991338"/>
            <a:ext cx="3084909" cy="304562"/>
          </a:xfrm>
          <a:prstGeom prst="rect">
            <a:avLst/>
          </a:prstGeom>
          <a:noFill/>
          <a:ln/>
        </p:spPr>
        <p:txBody>
          <a:bodyPr wrap="none" lIns="0" tIns="0" rIns="0" bIns="0" rtlCol="0" anchor="t"/>
          <a:lstStyle/>
          <a:p>
            <a:pPr marL="0" indent="0" algn="l">
              <a:lnSpc>
                <a:spcPts val="2350"/>
              </a:lnSpc>
              <a:buNone/>
            </a:pPr>
            <a:r>
              <a:rPr lang="en-US" sz="1900" dirty="0">
                <a:solidFill>
                  <a:srgbClr val="000000"/>
                </a:solidFill>
                <a:latin typeface="Libre Baskerville" pitchFamily="34" charset="0"/>
                <a:ea typeface="Libre Baskerville" pitchFamily="34" charset="-122"/>
                <a:cs typeface="Libre Baskerville" pitchFamily="34" charset="-120"/>
              </a:rPr>
              <a:t>🤖</a:t>
            </a:r>
            <a:r>
              <a:rPr lang="en-US" sz="1900" dirty="0">
                <a:solidFill>
                  <a:srgbClr val="454240"/>
                </a:solidFill>
                <a:latin typeface="Libre Baskerville" pitchFamily="34" charset="0"/>
                <a:ea typeface="Libre Baskerville" pitchFamily="34" charset="-122"/>
                <a:cs typeface="Libre Baskerville" pitchFamily="34" charset="-120"/>
              </a:rPr>
              <a:t> AI Recommendations</a:t>
            </a:r>
            <a:endParaRPr lang="en-US" sz="1900" dirty="0"/>
          </a:p>
        </p:txBody>
      </p:sp>
      <p:sp>
        <p:nvSpPr>
          <p:cNvPr id="14" name="Text 11"/>
          <p:cNvSpPr/>
          <p:nvPr/>
        </p:nvSpPr>
        <p:spPr>
          <a:xfrm>
            <a:off x="899993" y="5396389"/>
            <a:ext cx="7344013" cy="289917"/>
          </a:xfrm>
          <a:prstGeom prst="rect">
            <a:avLst/>
          </a:prstGeom>
          <a:noFill/>
          <a:ln/>
        </p:spPr>
        <p:txBody>
          <a:bodyPr wrap="none" lIns="0" tIns="0" rIns="0" bIns="0" rtlCol="0" anchor="t"/>
          <a:lstStyle/>
          <a:p>
            <a:pPr marL="0" indent="0" algn="l">
              <a:lnSpc>
                <a:spcPts val="2250"/>
              </a:lnSpc>
              <a:buNone/>
            </a:pPr>
            <a:r>
              <a:rPr lang="en-US" sz="1500" dirty="0">
                <a:solidFill>
                  <a:srgbClr val="454240"/>
                </a:solidFill>
                <a:latin typeface="DM Sans" pitchFamily="34" charset="0"/>
                <a:ea typeface="DM Sans" pitchFamily="34" charset="-122"/>
                <a:cs typeface="DM Sans" pitchFamily="34" charset="-120"/>
              </a:rPr>
              <a:t>Personalized product suggestions</a:t>
            </a:r>
            <a:endParaRPr lang="en-US" sz="1500" dirty="0"/>
          </a:p>
        </p:txBody>
      </p:sp>
      <p:sp>
        <p:nvSpPr>
          <p:cNvPr id="15" name="Shape 12"/>
          <p:cNvSpPr/>
          <p:nvPr/>
        </p:nvSpPr>
        <p:spPr>
          <a:xfrm>
            <a:off x="682228" y="6071473"/>
            <a:ext cx="7779544" cy="1130498"/>
          </a:xfrm>
          <a:prstGeom prst="roundRect">
            <a:avLst>
              <a:gd name="adj" fmla="val 7242"/>
            </a:avLst>
          </a:prstGeom>
          <a:solidFill>
            <a:srgbClr val="FFFDFA"/>
          </a:solidFill>
          <a:ln w="22860">
            <a:solidFill>
              <a:srgbClr val="DDD3BA"/>
            </a:solidFill>
            <a:prstDash val="solid"/>
          </a:ln>
        </p:spPr>
      </p:sp>
      <p:sp>
        <p:nvSpPr>
          <p:cNvPr id="16" name="Text 13"/>
          <p:cNvSpPr/>
          <p:nvPr/>
        </p:nvSpPr>
        <p:spPr>
          <a:xfrm>
            <a:off x="899993" y="6289238"/>
            <a:ext cx="2436614" cy="304562"/>
          </a:xfrm>
          <a:prstGeom prst="rect">
            <a:avLst/>
          </a:prstGeom>
          <a:noFill/>
          <a:ln/>
        </p:spPr>
        <p:txBody>
          <a:bodyPr wrap="none" lIns="0" tIns="0" rIns="0" bIns="0" rtlCol="0" anchor="t"/>
          <a:lstStyle/>
          <a:p>
            <a:pPr marL="0" indent="0" algn="l">
              <a:lnSpc>
                <a:spcPts val="2350"/>
              </a:lnSpc>
              <a:buNone/>
            </a:pPr>
            <a:r>
              <a:rPr lang="en-US" sz="1900" dirty="0">
                <a:solidFill>
                  <a:srgbClr val="000000"/>
                </a:solidFill>
                <a:latin typeface="Libre Baskerville" pitchFamily="34" charset="0"/>
                <a:ea typeface="Libre Baskerville" pitchFamily="34" charset="-122"/>
                <a:cs typeface="Libre Baskerville" pitchFamily="34" charset="-120"/>
              </a:rPr>
              <a:t>📦</a:t>
            </a:r>
            <a:r>
              <a:rPr lang="en-US" sz="1900" dirty="0">
                <a:solidFill>
                  <a:srgbClr val="454240"/>
                </a:solidFill>
                <a:latin typeface="Libre Baskerville" pitchFamily="34" charset="0"/>
                <a:ea typeface="Libre Baskerville" pitchFamily="34" charset="-122"/>
                <a:cs typeface="Libre Baskerville" pitchFamily="34" charset="-120"/>
              </a:rPr>
              <a:t> Order Tracking</a:t>
            </a:r>
            <a:endParaRPr lang="en-US" sz="1900" dirty="0"/>
          </a:p>
        </p:txBody>
      </p:sp>
      <p:sp>
        <p:nvSpPr>
          <p:cNvPr id="17" name="Text 14"/>
          <p:cNvSpPr/>
          <p:nvPr/>
        </p:nvSpPr>
        <p:spPr>
          <a:xfrm>
            <a:off x="899993" y="6694289"/>
            <a:ext cx="7344013" cy="289917"/>
          </a:xfrm>
          <a:prstGeom prst="rect">
            <a:avLst/>
          </a:prstGeom>
          <a:noFill/>
          <a:ln/>
        </p:spPr>
        <p:txBody>
          <a:bodyPr wrap="none" lIns="0" tIns="0" rIns="0" bIns="0" rtlCol="0" anchor="t"/>
          <a:lstStyle/>
          <a:p>
            <a:pPr marL="0" indent="0" algn="l">
              <a:lnSpc>
                <a:spcPts val="2250"/>
              </a:lnSpc>
              <a:buNone/>
            </a:pPr>
            <a:r>
              <a:rPr lang="en-US" sz="1500" dirty="0">
                <a:solidFill>
                  <a:srgbClr val="454240"/>
                </a:solidFill>
                <a:latin typeface="DM Sans" pitchFamily="34" charset="0"/>
                <a:ea typeface="DM Sans" pitchFamily="34" charset="-122"/>
                <a:cs typeface="DM Sans" pitchFamily="34" charset="-120"/>
              </a:rPr>
              <a:t>Real-time delivery status updates</a:t>
            </a:r>
            <a:endParaRPr lang="en-US" sz="1500" dirty="0"/>
          </a:p>
        </p:txBody>
      </p:sp>
      <p:sp>
        <p:nvSpPr>
          <p:cNvPr id="18" name="Text 15"/>
          <p:cNvSpPr/>
          <p:nvPr/>
        </p:nvSpPr>
        <p:spPr>
          <a:xfrm>
            <a:off x="682228" y="7390328"/>
            <a:ext cx="7779544" cy="289917"/>
          </a:xfrm>
          <a:prstGeom prst="rect">
            <a:avLst/>
          </a:prstGeom>
          <a:noFill/>
          <a:ln/>
        </p:spPr>
        <p:txBody>
          <a:bodyPr wrap="none" lIns="0" tIns="0" rIns="0" bIns="0" rtlCol="0" anchor="t"/>
          <a:lstStyle/>
          <a:p>
            <a:pPr marL="0" indent="0" algn="l">
              <a:lnSpc>
                <a:spcPts val="2250"/>
              </a:lnSpc>
              <a:buNone/>
            </a:pPr>
            <a:r>
              <a:rPr lang="en-US" sz="1500" dirty="0">
                <a:solidFill>
                  <a:srgbClr val="454240"/>
                </a:solidFill>
                <a:latin typeface="DM Sans" pitchFamily="34" charset="0"/>
                <a:ea typeface="DM Sans" pitchFamily="34" charset="-122"/>
                <a:cs typeface="DM Sans" pitchFamily="34" charset="-120"/>
              </a:rPr>
              <a:t>GitHub: </a:t>
            </a:r>
            <a:r>
              <a:rPr lang="en-US" sz="1500" u="sng" dirty="0">
                <a:solidFill>
                  <a:srgbClr val="AB8421"/>
                </a:solidFill>
                <a:latin typeface="DM Sans" pitchFamily="34" charset="0"/>
                <a:ea typeface="DM Sans" pitchFamily="34" charset="-122"/>
                <a:cs typeface="DM Sans" pitchFamily="34" charset="-120"/>
                <a:hlinkClick r:id="rId4">
                  <a:extLst>
                    <a:ext uri="{A12FA001-AC4F-418D-AE19-62706E023703}">
                      <ahyp:hlinkClr xmlns:ahyp="http://schemas.microsoft.com/office/drawing/2018/hyperlinkcolor" val="tx"/>
                    </a:ext>
                  </a:extLst>
                </a:hlinkClick>
              </a:rPr>
              <a:t>github.com/arafat23617/Online-Shopping-System</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ank you PNG transparent image download, size: 1168x368p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7975" y="2024743"/>
            <a:ext cx="11125200"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5071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TotalTime>
  <Words>453</Words>
  <Application>Microsoft Office PowerPoint</Application>
  <PresentationFormat>Custom</PresentationFormat>
  <Paragraphs>108</Paragraphs>
  <Slides>13</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Garet</vt:lpstr>
      <vt:lpstr>Wingdings</vt:lpstr>
      <vt:lpstr>DM Sans</vt:lpstr>
      <vt:lpstr>Arial</vt:lpstr>
      <vt:lpstr>Aptos</vt:lpstr>
      <vt:lpstr>Libre Baskerville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ARafat</dc:creator>
  <cp:lastModifiedBy>arafat sagor</cp:lastModifiedBy>
  <cp:revision>22</cp:revision>
  <dcterms:created xsi:type="dcterms:W3CDTF">2026-04-18T17:19:59Z</dcterms:created>
  <dcterms:modified xsi:type="dcterms:W3CDTF">2026-04-19T17:59:48Z</dcterms:modified>
</cp:coreProperties>
</file>